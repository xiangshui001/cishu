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第1页｜辞书知识与检索增强生成的融合</a:t>
            </a:r>
          </a:p>
          <a:p>
            <a:r>
              <a:t>对应初稿：摘要／全文</a:t>
            </a:r>
          </a:p>
          <a:p>
            <a:r>
              <a:t>建议用时：20秒</a:t>
            </a:r>
          </a:p>
          <a:p/>
          <a:p>
            <a:r>
              <a:t>今天汇报的主题是辞书、词汇语义与检索增强生成的融合。汇报按照已有初稿展开，依次讨论为什么需要融合、有哪些技术路径、直接应用能支持什么结论以及未来需要解决的问题。这是主题式文献综述，不是新模型实验报告。</a:t>
            </a:r>
          </a:p>
          <a:p/>
          <a:p>
            <a:r>
              <a:t>参考来源（沿用初稿）：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第2页｜三个问题，串起整篇综述</a:t>
            </a:r>
          </a:p>
          <a:p>
            <a:r>
              <a:t>对应初稿：§1</a:t>
            </a:r>
          </a:p>
          <a:p>
            <a:r>
              <a:t>建议用时：45秒</a:t>
            </a:r>
          </a:p>
          <a:p/>
          <a:p>
            <a:r>
              <a:t>全文围绕三个问题展开，而不是按照模型名称罗列文献。第一个问题是动因，第二个是技术如何分工，第三个是证据是否足以支持发展判断。本文的中心论点是：有更多可检索文本还不够，系统还需要区分义项、保留来源并说明答案依据。后面的每项技术都放回这条论证链中讨论。</a:t>
            </a:r>
          </a:p>
          <a:p/>
          <a:p>
            <a:r>
              <a:t>参考来源（沿用初稿）：</a:t>
            </a:r>
          </a:p>
          <a:p>
            <a:r>
              <a:t>[1] DE SCHRYVER G M. Lexicographers’ Dreams in the Electronic-Dictionary Age[J]. International Journal of Lexicography, 16(2): 143–199, 2003. [原始来源](https://doi.org/10.1093/ijl/16.2.143). DOI: 10.1093/ijl/16.2.143.</a:t>
            </a:r>
          </a:p>
          <a:p>
            <a:r>
              <a:t>[2] DE SCHRYVER G M. Generative AI and Lexicography: The Current State of the Art Using ChatGPT[J]. International Journal of Lexicography, 36(4): 355–387, 2023. [原始来源](https://doi.org/10.1093/ijl/ecad021). DOI: 10.1093/ijl/ecad021.</a:t>
            </a:r>
          </a:p>
          <a:p>
            <a:r>
              <a:t>[3] LEWIS P, PEREZ E, PIKTUS A, et al. Retrieval-Augmented Generation for Knowledge-Intensive NLP Tasks[C]. Advances in Neural Information Processing Systems, 33, 2020. [原始来源](https://papers.neurips.cc/paper/2020/hash/6b493230205f780e1bc26945df7481e5-Abstract.html).</a:t>
            </a:r>
          </a:p>
          <a:p>
            <a:r>
              <a:t>[4] AHMADI S, MCCRAE J P, NIMB S, et al. A Multilingual Evaluation Dataset for Monolingual Word Sense Alignment[C]. Proceedings of LREC 2020: 3232–3242, 2020. [原始来源](https://aclanthology.org/2020.lrec-1.395/).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第3页｜先区分证据层次，再评价技术发展</a:t>
            </a:r>
          </a:p>
          <a:p>
            <a:r>
              <a:t>对应初稿：§1.1</a:t>
            </a:r>
          </a:p>
          <a:p>
            <a:r>
              <a:t>建议用时：45秒</a:t>
            </a:r>
          </a:p>
          <a:p/>
          <a:p>
            <a:r>
              <a:t>初稿重点覆盖2020—2026年的研究，同时回溯电子辞书和语义资源的基础工作，原清单检索截止2026年9月22日。本次PPT只是对现有初稿的转述，没有扩大文献检索。正式论文、预印本和社区报告分别标注；阅读深度仍以参考清单为准。通用检索论文不能直接充当辞书专用系统的性能证据。</a:t>
            </a:r>
          </a:p>
          <a:p/>
          <a:p>
            <a:r>
              <a:t>参考来源（沿用初稿）：</a:t>
            </a:r>
          </a:p>
          <a:p>
            <a:r>
              <a:t>[4] AHMADI S, MCCRAE J P, NIMB S, et al. A Multilingual Evaluation Dataset for Monolingual Word Sense Alignment[C]. Proceedings of LREC 2020: 3232–3242, 2020. [原始来源](https://aclanthology.org/2020.lrec-1.395/).</a:t>
            </a:r>
          </a:p>
          <a:p>
            <a:r>
              <a:t>[5] MILLER G A. WordNet: A Lexical Database for English[J]. Communications of the ACM, 38(11): 39–41, 1995. [原始来源](https://doi.org/10.1145/219717.219748). DOI: 10.1145/219717.219748.</a:t>
            </a:r>
          </a:p>
          <a:p>
            <a:r>
              <a:t>[11] CIMIANO P, MCCRAE J P, BUITELAAR P, eds. Lexicon Model for Ontologies: Community Report, 10 May 2016[R/OL]. W3C Ontology-Lexicon Community Group, 2016. [原始来源](https://www.w3.org/2016/05/ontolex/).</a:t>
            </a:r>
          </a:p>
          <a:p>
            <a:r>
              <a:t>[21] WANG H, LIANG Q, WANG Y, et al. Enhancing Lexical Relation Mining with Structured Sememe Knowledge[C]. Proceedings of ACL 2026, Volume 1: 4930–4947, 2026. [原始来源](https://aclanthology.org/2026.acl-long.224/). DOI: 10.18653/v1/2026.acl-long.224.</a:t>
            </a:r>
          </a:p>
          <a:p>
            <a:r>
              <a:t>[23] TRIVEDI H, BALASUBRAMANIAN N, KHOT T, et al. Interleaving Retrieval with Chain-of-Thought Reasoning for Knowledge-Intensive Multi-Step Questions[C]. Proceedings of ACL 2023, Volume 1: 10014–10037, 2023. [原始来源](https://aclanthology.org/2023.acl-long.557/). DOI: 10.18653/v1/2023.acl-long.557.</a:t>
            </a:r>
          </a:p>
          <a:p>
            <a:r>
              <a:t>[29] MERX R, MAHMUDI A, LANGFORD K, et al. Low-Resource Machine Translation through Retrieval-Augmented LLM Prompting: A Study on the Mambai Language[C]. Proceedings of the 2nd EURALI Workshop @ LREC-COLING 2024: 1–11, 2024. [原始来源](https://aclanthology.org/2024.eurali-1.1/).</a:t>
            </a:r>
          </a:p>
          <a:p>
            <a:r>
              <a:t>[30] ELTANBOULY S, RASHWANI S. Grounding Arabic LLMs in the Doha Historical Dictionary: Retrieval-Augmented Understanding of Quran and Hadith[EB/OL]. arXiv:2603.23972v1, 2026. [原始来源](https://arxiv.org/abs/2603.23972). DOI: 10.48550/arXiv.2603.23972.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第4页｜融合动因：三种需求同时发生变化</a:t>
            </a:r>
          </a:p>
          <a:p>
            <a:r>
              <a:t>对应初稿：§1／§3.1</a:t>
            </a:r>
          </a:p>
          <a:p>
            <a:r>
              <a:t>建议用时：40秒</a:t>
            </a:r>
          </a:p>
          <a:p/>
          <a:p>
            <a:r>
              <a:t>数字化改善访问路径，生成模型扩展交互方式，辞书知识则可以为模型提供有来源的词汇证据。这三种变化是互补的。不能据此认为模型完全不懂词义，也不能因为辞书经过编纂就忽略版本、语境和分义差异。融合的动因是让解释更适合问题并能够回查，而非简单替代现有辞书。</a:t>
            </a:r>
          </a:p>
          <a:p/>
          <a:p>
            <a:r>
              <a:t>参考来源（沿用初稿）：</a:t>
            </a:r>
          </a:p>
          <a:p>
            <a:r>
              <a:t>[1] DE SCHRYVER G M. Lexicographers’ Dreams in the Electronic-Dictionary Age[J]. International Journal of Lexicography, 16(2): 143–199, 2003. [原始来源](https://doi.org/10.1093/ijl/16.2.143). DOI: 10.1093/ijl/16.2.143.</a:t>
            </a:r>
          </a:p>
          <a:p>
            <a:r>
              <a:t>[2] DE SCHRYVER G M. Generative AI and Lexicography: The Current State of the Art Using ChatGPT[J]. International Journal of Lexicography, 36(4): 355–387, 2023. [原始来源](https://doi.org/10.1093/ijl/ecad021). DOI: 10.1093/ijl/ecad021.</a:t>
            </a:r>
          </a:p>
          <a:p>
            <a:r>
              <a:t>[3] LEWIS P, PEREZ E, PIKTUS A, et al. Retrieval-Augmented Generation for Knowledge-Intensive NLP Tasks[C]. Advances in Neural Information Processing Systems, 33, 2020. [原始来源](https://papers.neurips.cc/paper/2020/hash/6b493230205f780e1bc26945df7481e5-Abstract.html).</a:t>
            </a:r>
          </a:p>
          <a:p>
            <a:r>
              <a:t>[4] AHMADI S, MCCRAE J P, NIMB S, et al. A Multilingual Evaluation Dataset for Monolingual Word Sense Alignment[C]. Proceedings of LREC 2020: 3232–3242, 2020. [原始来源](https://aclanthology.org/2020.lrec-1.395/).</a:t>
            </a:r>
          </a:p>
          <a:p>
            <a:r>
              <a:t>[15] QI F, ZHANG L, YANG Y, et al. WantWords: An Open-source Online Reverse Dictionary System[C]. Proceedings of EMNLP 2020: System Demonstrations: 175–181, 2020. [原始来源](https://aclanthology.org/2020.emnlp-demos.23/). DOI: 10.18653/v1/2020.emnlp-demos.23.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第5页｜发展脉络：多条路线汇合，而非逐代替代</a:t>
            </a:r>
          </a:p>
          <a:p>
            <a:r>
              <a:t>对应初稿：§2—§5</a:t>
            </a:r>
          </a:p>
          <a:p>
            <a:r>
              <a:t>建议用时：40秒</a:t>
            </a:r>
          </a:p>
          <a:p/>
          <a:p>
            <a:r>
              <a:t>这张图是按综述主题整理的时间线，不是技术优劣排名。语义网络、编码规范、语料例证和生成式交互并不是互相替代的关系。较早的资源与规范仍然为较新的检索增强系统提供基础。后面将分别说明这些路线解决的是表示、存储、选择证据还是组织回答。</a:t>
            </a:r>
          </a:p>
          <a:p/>
          <a:p>
            <a:r>
              <a:t>参考来源（沿用初稿）：</a:t>
            </a:r>
          </a:p>
          <a:p>
            <a:r>
              <a:t>[1] DE SCHRYVER G M. Lexicographers’ Dreams in the Electronic-Dictionary Age[J]. International Journal of Lexicography, 16(2): 143–199, 2003. [原始来源](https://doi.org/10.1093/ijl/16.2.143). DOI: 10.1093/ijl/16.2.143.</a:t>
            </a:r>
          </a:p>
          <a:p>
            <a:r>
              <a:t>[3] LEWIS P, PEREZ E, PIKTUS A, et al. Retrieval-Augmented Generation for Knowledge-Intensive NLP Tasks[C]. Advances in Neural Information Processing Systems, 33, 2020. [原始来源](https://papers.neurips.cc/paper/2020/hash/6b493230205f780e1bc26945df7481e5-Abstract.html).</a:t>
            </a:r>
          </a:p>
          <a:p>
            <a:r>
              <a:t>[5] MILLER G A. WordNet: A Lexical Database for English[J]. Communications of the ACM, 38(11): 39–41, 1995. [原始来源](https://doi.org/10.1145/219717.219748). DOI: 10.1145/219717.219748.</a:t>
            </a:r>
          </a:p>
          <a:p>
            <a:r>
              <a:t>[6] BAKER C F, FILLMORE C J, LOWE J B. The Berkeley FrameNet Project[C]. 36th Annual Meeting of the ACL and 17th International Conference on Computational Linguistics, Volume 1: 86–90, 1998. [原始来源](https://aclanthology.org/P98-1013/). DOI: 10.3115/980845.980860.</a:t>
            </a:r>
          </a:p>
          <a:p>
            <a:r>
              <a:t>[7] NAVIGLI R, PONZETTO S P. BabelNet: Building a Very Large Multilingual Semantic Network[C]. Proceedings of ACL 2010: 216–225, 2010. [原始来源](https://aclanthology.org/P10-1023/).</a:t>
            </a:r>
          </a:p>
          <a:p>
            <a:r>
              <a:t>[10] TASOVAC T, ROMARY L, SALGADO A. TEI Lex-0: A baseline encoding for lexicographic data[R/OL]. ELEXIS – European Lexicographic Infrastructure, 2018. [原始来源](https://novaresearch.unl.pt/en/publications/tei-lex-0-a-baseline-encoding-for-lexicographic-data/).</a:t>
            </a:r>
          </a:p>
          <a:p>
            <a:r>
              <a:t>[11] CIMIANO P, MCCRAE J P, BUITELAAR P, eds. Lexicon Model for Ontologies: Community Report, 10 May 2016[R/OL]. W3C Ontology-Lexicon Community Group, 2016. [原始来源](https://www.w3.org/2016/05/ontolex/).</a:t>
            </a:r>
          </a:p>
          <a:p>
            <a:r>
              <a:t>[12] KILGARRIFF A, HUSÁK M, MCADAM K, et al. GDEX: Automatically Finding Good Dictionary Examples in a Corpus[C]. Proceedings of the 13th EURALEX International Congress: 425–432, 2008. [原始来源](https://euralex.org/publications/gdex-automatically-finding-good-dictionary-examples-in-a-corpus/).</a:t>
            </a:r>
          </a:p>
          <a:p>
            <a:r>
              <a:t>[14] NORASET T, LIANG C, BIRNBAUM L, et al. Definition Modeling: Learning to Define Word Embeddings in Natural Language[C]. Proceedings of the AAAI Conference on Artificial Intelligence, 31(1), 2017. [原始来源](https://ojs.aaai.org/index.php/AAAI/article/view/10996). DOI: 10.1609/aaai.v31i1.10996.</a:t>
            </a:r>
          </a:p>
          <a:p>
            <a:r>
              <a:t>[15] QI F, ZHANG L, YANG Y, et al. WantWords: An Open-source Online Reverse Dictionary System[C]. Proceedings of EMNLP 2020: System Demonstrations: 175–181, 2020. [原始来源](https://aclanthology.org/2020.emnlp-demos.23/). DOI: 10.18653/v1/2020.emnlp-demos.23.</a:t>
            </a:r>
          </a:p>
          <a:p>
            <a:r>
              <a:t>[16] HUANG H, KAJIWARA T, ARASE Y. Definition Modelling for Appropriate Specificity[C]. Proceedings of EMNLP 2021: 2499–2509, 2021. [原始来源](https://aclanthology.org/2021.emnlp-main.194/). DOI: 10.18653/v1/2021.emnlp-main.194.</a:t>
            </a:r>
          </a:p>
          <a:p>
            <a:r>
              <a:t>[17] GIULIANELLI M, LUDEN I, FERNÁNDEZ R, et al. Interpretable Word Sense Representations via Definition Generation: The Case of Semantic Change Analysis[C]. Proceedings of ACL 2023, Volume 1: 3130–3148, 2023. [原始来源](https://aclanthology.org/2023.acl-long.176/). DOI: 10.18653/v1/2023.acl-long.176.</a:t>
            </a:r>
          </a:p>
          <a:p>
            <a:r>
              <a:t>[29] MERX R, MAHMUDI A, LANGFORD K, et al. Low-Resource Machine Translation through Retrieval-Augmented LLM Prompting: A Study on the Mambai Language[C]. Proceedings of the 2nd EURALI Workshop @ LREC-COLING 2024: 1–11, 2024. [原始来源](https://aclanthology.org/2024.eurali-1.1/).</a:t>
            </a:r>
          </a:p>
          <a:p>
            <a:r>
              <a:t>[30] ELTANBOULY S, RASHWANI S. Grounding Arabic LLMs in the Doha Historical Dictionary: Retrieval-Augmented Understanding of Quran and Hadith[EB/OL]. arXiv:2603.23972v1, 2026. [原始来源](https://arxiv.org/abs/2603.23972). DOI: 10.48550/arXiv.2603.23972.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第6页｜语义资源的关键差异：表示单位不同</a:t>
            </a:r>
          </a:p>
          <a:p>
            <a:r>
              <a:t>对应初稿：§2.1</a:t>
            </a:r>
          </a:p>
          <a:p>
            <a:r>
              <a:t>建议用时：55秒</a:t>
            </a:r>
          </a:p>
          <a:p/>
          <a:p>
            <a:r>
              <a:t>WordNet侧重同义词集和词汇关系，FrameNet强调情境中的参与者结构，BabelNet扩展多语言与百科覆盖，HowNet式资源刻画意义成分。它们的单位和目的不同，因此不宜混成一个统一分类表。OpenHowNet在本文按原清单所列预印本和资源入口引用。显式结构有利于解释关系，向量表示则有利于发现词面不同的候选。</a:t>
            </a:r>
          </a:p>
          <a:p/>
          <a:p>
            <a:r>
              <a:t>参考来源（沿用初稿）：</a:t>
            </a:r>
          </a:p>
          <a:p>
            <a:r>
              <a:t>[5] MILLER G A. WordNet: A Lexical Database for English[J]. Communications of the ACM, 38(11): 39–41, 1995. [原始来源](https://doi.org/10.1145/219717.219748). DOI: 10.1145/219717.219748.</a:t>
            </a:r>
          </a:p>
          <a:p>
            <a:r>
              <a:t>[6] BAKER C F, FILLMORE C J, LOWE J B. The Berkeley FrameNet Project[C]. 36th Annual Meeting of the ACL and 17th International Conference on Computational Linguistics, Volume 1: 86–90, 1998. [原始来源](https://aclanthology.org/P98-1013/). DOI: 10.3115/980845.980860.</a:t>
            </a:r>
          </a:p>
          <a:p>
            <a:r>
              <a:t>[7] NAVIGLI R, PONZETTO S P. BabelNet: Building a Very Large Multilingual Semantic Network[C]. Proceedings of ACL 2010: 216–225, 2010. [原始来源](https://aclanthology.org/P10-1023/).</a:t>
            </a:r>
          </a:p>
          <a:p>
            <a:r>
              <a:t>[8] QI F, YANG C, LIU Z, et al. OpenHowNet: An Open Sememe-based Lexical Knowledge Base[EB/OL]. arXiv:1901.09957, 2019. [原始来源](https://arxiv.org/abs/1901.09957). DOI: 10.48550/arXiv.1901.09957.</a:t>
            </a:r>
          </a:p>
          <a:p>
            <a:r>
              <a:t>[9] 于宁, 王江萍, 石宇, 等. 基于义原表示学习的词向量表示方法[C]. 第二十届中国计算语言学大会论文集: 57–65, 2021. [原始来源](https://aclanthology.org/2021.ccl-1.6/).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第7页｜统一格式 ≠ 统一意义</a:t>
            </a:r>
          </a:p>
          <a:p>
            <a:r>
              <a:t>对应初稿：§2.2／§4.1</a:t>
            </a:r>
          </a:p>
          <a:p>
            <a:r>
              <a:t>建议用时：45秒</a:t>
            </a:r>
          </a:p>
          <a:p/>
          <a:p>
            <a:r>
              <a:t>把两本辞书转成相同JSON字段，并不会消除它们的编号、分义粒度或解释差异。TEI Lex-0和OntoLex解决编码与关联组织问题，MWSA把义项对应作为独立任务。需要特别说明，OntoLex在本文引用的是社区报告，不是W3C标准建议。本文据此建议保留原文和来源编号，再建立可复核的映射。</a:t>
            </a:r>
          </a:p>
          <a:p/>
          <a:p>
            <a:r>
              <a:t>参考来源（沿用初稿）：</a:t>
            </a:r>
          </a:p>
          <a:p>
            <a:r>
              <a:t>[4] AHMADI S, MCCRAE J P, NIMB S, et al. A Multilingual Evaluation Dataset for Monolingual Word Sense Alignment[C]. Proceedings of LREC 2020: 3232–3242, 2020. [原始来源](https://aclanthology.org/2020.lrec-1.395/).</a:t>
            </a:r>
          </a:p>
          <a:p>
            <a:r>
              <a:t>[10] TASOVAC T, ROMARY L, SALGADO A. TEI Lex-0: A baseline encoding for lexicographic data[R/OL]. ELEXIS – European Lexicographic Infrastructure, 2018. [原始来源](https://novaresearch.unl.pt/en/publications/tei-lex-0-a-baseline-encoding-for-lexicographic-data/).</a:t>
            </a:r>
          </a:p>
          <a:p>
            <a:r>
              <a:t>[11] CIMIANO P, MCCRAE J P, BUITELAAR P, eds. Lexicon Model for Ontologies: Community Report, 10 May 2016[R/OL]. W3C Ontology-Lexicon Community Group, 2016. [原始来源](https://www.w3.org/2016/05/ontolex/).</a:t>
            </a:r>
          </a:p>
          <a:p>
            <a:r>
              <a:t>[22] KARPUKHIN V, OGUZ B, MIN S, et al. Dense Passage Retrieval for Open-Domain Question Answering[C]. Proceedings of EMNLP 2020: 6769–6781, 2020. [原始来源](https://aclanthology.org/2020.emnlp-main.550/). DOI: 10.18653/v1/2020.emnlp-main.550.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第8页｜定义、例证、语境：不能混成同一种文本</a:t>
            </a:r>
          </a:p>
          <a:p>
            <a:r>
              <a:t>对应初稿：§2.3</a:t>
            </a:r>
          </a:p>
          <a:p>
            <a:r>
              <a:t>建议用时：40秒</a:t>
            </a:r>
          </a:p>
          <a:p/>
          <a:p>
            <a:r>
              <a:t>GDEX体现的是从语料中筛选好例句，而生成例句首先是候选解释材料，两者的证据身份不同。WiC说明比较语境中的词义可以不要求输出统一编号，但二元同异义判断不能取代所有跨辞书关系。辞书数据库应该允许模型知道自己看到的是定义、例证还是使用语境，而不是一律当作相同的文本块。</a:t>
            </a:r>
          </a:p>
          <a:p/>
          <a:p>
            <a:r>
              <a:t>参考来源（沿用初稿）：</a:t>
            </a:r>
          </a:p>
          <a:p>
            <a:r>
              <a:t>[12] KILGARRIFF A, HUSÁK M, MCADAM K, et al. GDEX: Automatically Finding Good Dictionary Examples in a Corpus[C]. Proceedings of the 13th EURALEX International Congress: 425–432, 2008. [原始来源](https://euralex.org/publications/gdex-automatically-finding-good-dictionary-examples-in-a-corpus/).</a:t>
            </a:r>
          </a:p>
          <a:p>
            <a:r>
              <a:t>[13] PILEHVAR M T, CAMACHO-COLLADOS J. WiC: the Word-in-Context Dataset for Evaluating Context-Sensitive Meaning Representations[C]. Proceedings of NAACL-HLT 2019, Volume 1: 1267–1273, 2019. [原始来源](https://aclanthology.org/N19-1128/). DOI: 10.18653/v1/N19-1128.</a:t>
            </a:r>
          </a:p>
          <a:p>
            <a:r>
              <a:t>[18] CAI B, CLARENCE N, LIANG D, et al. Low-Cost Generation and Evaluation of Dictionary Example Sentences[C]. Proceedings of NAACL-HLT 2024, Volume 1: 3538–3549, 2024. [原始来源](https://aclanthology.org/2024.naacl-long.194/). DOI: 10.18653/v1/2024.naacl-long.194.</a:t>
            </a:r>
          </a:p>
          <a:p>
            <a:r>
              <a:t>[19] 方明炜, 朱君辉, 鲁鹿鸣, 等. 例句质量评估体系构建及大语言模型例句生成能力评估[C]. 第二十四届中国计算语言学大会论文集: 117–130, 2025. [原始来源](https://aclanthology.org/2025.ccl-1.10/).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第9页｜大语言模型与辞书：两种作用方向</a:t>
            </a:r>
          </a:p>
          <a:p>
            <a:r>
              <a:t>对应初稿：§3.1—§3.2</a:t>
            </a:r>
          </a:p>
          <a:p>
            <a:r>
              <a:t>建议用时：45秒</a:t>
            </a:r>
          </a:p>
          <a:p/>
          <a:p>
            <a:r>
              <a:t>左边是编纂和语言服务的候选生成，右边是用既有辞书知识增强回答。WantWords从描述寻找词语，与从词向量生成定义的方向不同；它们也不因涉及检索或语言模型就自动构成RAG。区分这两种作用方向，可以避免把生成能力强直接解释成证据使用可靠。</a:t>
            </a:r>
          </a:p>
          <a:p/>
          <a:p>
            <a:r>
              <a:t>参考来源（沿用初稿）：</a:t>
            </a:r>
          </a:p>
          <a:p>
            <a:r>
              <a:t>[2] DE SCHRYVER G M. Generative AI and Lexicography: The Current State of the Art Using ChatGPT[J]. International Journal of Lexicography, 36(4): 355–387, 2023. [原始来源](https://doi.org/10.1093/ijl/ecad021). DOI: 10.1093/ijl/ecad021.</a:t>
            </a:r>
          </a:p>
          <a:p>
            <a:r>
              <a:t>[3] LEWIS P, PEREZ E, PIKTUS A, et al. Retrieval-Augmented Generation for Knowledge-Intensive NLP Tasks[C]. Advances in Neural Information Processing Systems, 33, 2020. [原始来源](https://papers.neurips.cc/paper/2020/hash/6b493230205f780e1bc26945df7481e5-Abstract.html).</a:t>
            </a:r>
          </a:p>
          <a:p>
            <a:r>
              <a:t>[14] NORASET T, LIANG C, BIRNBAUM L, et al. Definition Modeling: Learning to Define Word Embeddings in Natural Language[C]. Proceedings of the AAAI Conference on Artificial Intelligence, 31(1), 2017. [原始来源](https://ojs.aaai.org/index.php/AAAI/article/view/10996). DOI: 10.1609/aaai.v31i1.10996.</a:t>
            </a:r>
          </a:p>
          <a:p>
            <a:r>
              <a:t>[15] QI F, ZHANG L, YANG Y, et al. WantWords: An Open-source Online Reverse Dictionary System[C]. Proceedings of EMNLP 2020: System Demonstrations: 175–181, 2020. [原始来源](https://aclanthology.org/2020.emnlp-demos.23/). DOI: 10.18653/v1/2020.emnlp-demos.23.</a:t>
            </a:r>
          </a:p>
          <a:p>
            <a:r>
              <a:t>[18] CAI B, CLARENCE N, LIANG D, et al. Low-Cost Generation and Evaluation of Dictionary Example Sentences[C]. Proceedings of NAACL-HLT 2024, Volume 1: 3538–3549, 2024. [原始来源](https://aclanthology.org/2024.naacl-long.194/). DOI: 10.18653/v1/2024.naacl-long.194.</a:t>
            </a:r>
          </a:p>
          <a:p>
            <a:r>
              <a:t>[19] 方明炜, 朱君辉, 鲁鹿鸣, 等. 例句质量评估体系构建及大语言模型例句生成能力评估[C]. 第二十四届中国计算语言学大会论文集: 117–130, 2025. [原始来源](https://aclanthology.org/2025.ccl-1.10/).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第10页｜质量转向：从“像一句话”到“解释得恰当”</a:t>
            </a:r>
          </a:p>
          <a:p>
            <a:r>
              <a:t>对应初稿：§3.1—§3.3</a:t>
            </a:r>
          </a:p>
          <a:p>
            <a:r>
              <a:t>建议用时：45秒</a:t>
            </a:r>
          </a:p>
          <a:p/>
          <a:p>
            <a:r>
              <a:t>释义生成不只是写出通顺句子，还涉及解释的具体程度。例句评价也不能只看语法，中文教学研究给出了五个相关维度。与此同时，词义能力研究说明强模型本身已经是重要基线。因此，外部知识的意义应通过困难语义条件和可靠性来检验，而不能建立在模型一概不懂词义的前提上。</a:t>
            </a:r>
          </a:p>
          <a:p/>
          <a:p>
            <a:r>
              <a:t>参考来源（沿用初稿）：</a:t>
            </a:r>
          </a:p>
          <a:p>
            <a:r>
              <a:t>[16] HUANG H, KAJIWARA T, ARASE Y. Definition Modelling for Appropriate Specificity[C]. Proceedings of EMNLP 2021: 2499–2509, 2021. [原始来源](https://aclanthology.org/2021.emnlp-main.194/). DOI: 10.18653/v1/2021.emnlp-main.194.</a:t>
            </a:r>
          </a:p>
          <a:p>
            <a:r>
              <a:t>[17] GIULIANELLI M, LUDEN I, FERNÁNDEZ R, et al. Interpretable Word Sense Representations via Definition Generation: The Case of Semantic Change Analysis[C]. Proceedings of ACL 2023, Volume 1: 3130–3148, 2023. [原始来源](https://aclanthology.org/2023.acl-long.176/). DOI: 10.18653/v1/2023.acl-long.176.</a:t>
            </a:r>
          </a:p>
          <a:p>
            <a:r>
              <a:t>[18] CAI B, CLARENCE N, LIANG D, et al. Low-Cost Generation and Evaluation of Dictionary Example Sentences[C]. Proceedings of NAACL-HLT 2024, Volume 1: 3538–3549, 2024. [原始来源](https://aclanthology.org/2024.naacl-long.194/). DOI: 10.18653/v1/2024.naacl-long.194.</a:t>
            </a:r>
          </a:p>
          <a:p>
            <a:r>
              <a:t>[19] 方明炜, 朱君辉, 鲁鹿鸣, 等. 例句质量评估体系构建及大语言模型例句生成能力评估[C]. 第二十四届中国计算语言学大会论文集: 117–130, 2025. [原始来源](https://aclanthology.org/2025.ccl-1.10/).</a:t>
            </a:r>
          </a:p>
          <a:p>
            <a:r>
              <a:t>[20] MECONI D, STIRPE S, MARTELLI F, et al. Do Large Language Models Understand Word Senses?[C]. Proceedings of EMNLP 2025: 33897–33916, 2025. [原始来源](https://aclanthology.org/2025.emnlp-main.1720/). DOI: 10.18653/v1/2025.emnlp-main.1720.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第11页｜结构知识进入模型，至少有三种位置</a:t>
            </a:r>
          </a:p>
          <a:p>
            <a:r>
              <a:t>对应初稿：§3.3</a:t>
            </a:r>
          </a:p>
          <a:p>
            <a:r>
              <a:t>建议用时：45秒</a:t>
            </a:r>
          </a:p>
          <a:p/>
          <a:p>
            <a:r>
              <a:t>初稿以SememeLRM作为结构知识进入模型的案例：义原树经关系图编码与预训练语言模型结合，任务是词汇关系分类和蕴含。它不能直接证明把同样结构放进生成提示就有相同收益。这张表概括不同知识接入位置，各方式可以组合，但必须按实际训练和实验设置描述。</a:t>
            </a:r>
          </a:p>
          <a:p/>
          <a:p>
            <a:r>
              <a:t>参考来源（沿用初稿）：</a:t>
            </a:r>
          </a:p>
          <a:p>
            <a:r>
              <a:t>[3] LEWIS P, PEREZ E, PIKTUS A, et al. Retrieval-Augmented Generation for Knowledge-Intensive NLP Tasks[C]. Advances in Neural Information Processing Systems, 33, 2020. [原始来源](https://papers.neurips.cc/paper/2020/hash/6b493230205f780e1bc26945df7481e5-Abstract.html).</a:t>
            </a:r>
          </a:p>
          <a:p>
            <a:r>
              <a:t>[9] 于宁, 王江萍, 石宇, 等. 基于义原表示学习的词向量表示方法[C]. 第二十届中国计算语言学大会论文集: 57–65, 2021. [原始来源](https://aclanthology.org/2021.ccl-1.6/).</a:t>
            </a:r>
          </a:p>
          <a:p>
            <a:r>
              <a:t>[21] WANG H, LIANG Q, WANG Y, et al. Enhancing Lexical Relation Mining with Structured Sememe Knowledge[C]. Proceedings of ACL 2026, Volume 1: 4930–4947, 2026. [原始来源](https://aclanthology.org/2026.acl-long.224/). DOI: 10.18653/v1/2026.acl-long.224.</a:t>
            </a:r>
          </a:p>
          <a:p>
            <a:r>
              <a:t>[23] TRIVEDI H, BALASUBRAMANIAN N, KHOT T, et al. Interleaving Retrieval with Chain-of-Thought Reasoning for Knowledge-Intensive Multi-Step Questions[C]. Proceedings of ACL 2023, Volume 1: 10014–10037, 2023. [原始来源](https://aclanthology.org/2023.acl-long.557/). DOI: 10.18653/v1/2023.acl-long.557.</a:t>
            </a:r>
          </a:p>
          <a:p>
            <a:r>
              <a:t>[26] SUN J, XU C, TANG L, et al. Think-on-Graph: Deep and Responsible Reasoning of Large Language Model on Knowledge Graph[C]. The Twelfth International Conference on Learning Representations, 2024. [原始来源](https://proceedings.iclr.cc/paper_files/paper/2024/hash/10a6bdcabbd5a3d36b760daa295f63c1-Abstract-Conference.html).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第12页｜RAG的关键链条：取证、组织、生成、回查</a:t>
            </a:r>
          </a:p>
          <a:p>
            <a:r>
              <a:t>对应初稿：§4.1／§6.1</a:t>
            </a:r>
          </a:p>
          <a:p>
            <a:r>
              <a:t>建议用时：45秒</a:t>
            </a:r>
          </a:p>
          <a:p/>
          <a:p>
            <a:r>
              <a:t>RAG将外部检索证据引入生成过程。Lewis等的奠基工作包含任务训练，因此不能把RAG一概理解为完全不训练。对于辞书应用，必须先确定检索单位，再判断取回内容是否支持当前问题。末端还需要回查断言与引用，不能只因为输出附了链接就认为内容已经可靠。</a:t>
            </a:r>
          </a:p>
          <a:p/>
          <a:p>
            <a:r>
              <a:t>参考来源（沿用初稿）：</a:t>
            </a:r>
          </a:p>
          <a:p>
            <a:r>
              <a:t>[3] LEWIS P, PEREZ E, PIKTUS A, et al. Retrieval-Augmented Generation for Knowledge-Intensive NLP Tasks[C]. Advances in Neural Information Processing Systems, 33, 2020. [原始来源](https://papers.neurips.cc/paper/2020/hash/6b493230205f780e1bc26945df7481e5-Abstract.html).</a:t>
            </a:r>
          </a:p>
          <a:p>
            <a:r>
              <a:t>[22] KARPUKHIN V, OGUZ B, MIN S, et al. Dense Passage Retrieval for Open-Domain Question Answering[C]. Proceedings of EMNLP 2020: 6769–6781, 2020. [原始来源](https://aclanthology.org/2020.emnlp-main.550/). DOI: 10.18653/v1/2020.emnlp-main.550.</a:t>
            </a:r>
          </a:p>
          <a:p>
            <a:r>
              <a:t>[31] GAO T, YEN H, YU J, et al. Enabling Large Language Models to Generate Text with Citations[C]. Proceedings of EMNLP 2023: 6465–6488, 2023. [原始来源](https://aclanthology.org/2023.emnlp-main.398/). DOI: 10.18653/v1/2023.emnlp-main.398.</a:t>
            </a:r>
          </a:p>
          <a:p>
            <a:r>
              <a:t>[32] ES S, JAMES J, ESPINOSA ANKE L, et al. RAGAs: Automated Evaluation of Retrieval Augmented Generation[C]. Proceedings of EACL 2024: System Demonstrations: 150–158, 2024. [原始来源](https://aclanthology.org/2024.eacl-demo.16/). DOI: 10.18653/v1/2024.eacl-demo.16.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第13页｜检索粒度应由问题决定</a:t>
            </a:r>
          </a:p>
          <a:p>
            <a:r>
              <a:t>对应初稿：§4.1</a:t>
            </a:r>
          </a:p>
          <a:p>
            <a:r>
              <a:t>建议用时：45秒</a:t>
            </a:r>
          </a:p>
          <a:p/>
          <a:p>
            <a:r>
              <a:t>本页是初稿的综合建议，不是已经得到统一效果证明的最佳检索方案。整词条、义项、片段和例证都有适用条件。可结合词形、读音等精确线索，语义召回和义项级重排；重排要判断是否支持当前问题，而不是只追求文本相似。原始记录保持完整，模型每次接收多少信息则按任务控制。</a:t>
            </a:r>
          </a:p>
          <a:p/>
          <a:p>
            <a:r>
              <a:t>参考来源（沿用初稿）：</a:t>
            </a:r>
          </a:p>
          <a:p>
            <a:r>
              <a:t>[4] AHMADI S, MCCRAE J P, NIMB S, et al. A Multilingual Evaluation Dataset for Monolingual Word Sense Alignment[C]. Proceedings of LREC 2020: 3232–3242, 2020. [原始来源](https://aclanthology.org/2020.lrec-1.395/).</a:t>
            </a:r>
          </a:p>
          <a:p>
            <a:r>
              <a:t>[13] PILEHVAR M T, CAMACHO-COLLADOS J. WiC: the Word-in-Context Dataset for Evaluating Context-Sensitive Meaning Representations[C]. Proceedings of NAACL-HLT 2019, Volume 1: 1267–1273, 2019. [原始来源](https://aclanthology.org/N19-1128/). DOI: 10.18653/v1/N19-1128.</a:t>
            </a:r>
          </a:p>
          <a:p>
            <a:r>
              <a:t>[22] KARPUKHIN V, OGUZ B, MIN S, et al. Dense Passage Retrieval for Open-Domain Question Answering[C]. Proceedings of EMNLP 2020: 6769–6781, 2020. [原始来源](https://aclanthology.org/2020.emnlp-main.550/). DOI: 10.18653/v1/2020.emnlp-main.550.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第14页｜按需检索：控制“何时查、是否再查”</a:t>
            </a:r>
          </a:p>
          <a:p>
            <a:r>
              <a:t>对应初稿：§4.2</a:t>
            </a:r>
          </a:p>
          <a:p>
            <a:r>
              <a:t>建议用时：55秒</a:t>
            </a:r>
          </a:p>
          <a:p/>
          <a:p>
            <a:r>
              <a:t>IRCoT、Self-RAG和Adaptive-RAG都关注检索适应性，但不能统一称为无训练提示方法。迁移到辞书场景时，简单查字音和复杂历时比较不应执行相同流程。初稿建议在资料足够时停止，只有未解释概念影响答案时再补取证据，同时考虑来源冲突与预算，而非只依赖模型自报信心。</a:t>
            </a:r>
          </a:p>
          <a:p/>
          <a:p>
            <a:r>
              <a:t>参考来源（沿用初稿）：</a:t>
            </a:r>
          </a:p>
          <a:p>
            <a:r>
              <a:t>[23] TRIVEDI H, BALASUBRAMANIAN N, KHOT T, et al. Interleaving Retrieval with Chain-of-Thought Reasoning for Knowledge-Intensive Multi-Step Questions[C]. Proceedings of ACL 2023, Volume 1: 10014–10037, 2023. [原始来源](https://aclanthology.org/2023.acl-long.557/). DOI: 10.18653/v1/2023.acl-long.557.</a:t>
            </a:r>
          </a:p>
          <a:p>
            <a:r>
              <a:t>[24] ASAI A, WU Z, WANG Y, et al. Self-RAG: Learning to Retrieve, Generate, and Critique through Self-Reflection[C]. The Twelfth International Conference on Learning Representations, 2024. [原始来源](https://proceedings.iclr.cc/paper_files/paper/2024/hash/25f7be9694d7b32d5cc670927b8091e1-Abstract-Conference.html).</a:t>
            </a:r>
          </a:p>
          <a:p>
            <a:r>
              <a:t>[25] JEONG S, BAEK J, CHO S, et al. Adaptive-RAG: Learning to Adapt Retrieval-Augmented Large Language Models through Question Complexity[C]. Proceedings of NAACL-HLT 2024, Volume 1: 7036–7050, 2024. [原始来源](https://aclanthology.org/2024.naacl-long.389/). DOI: 10.18653/v1/2024.naacl-long.389.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第15页｜图结构RAG不是一种统一算法</a:t>
            </a:r>
          </a:p>
          <a:p>
            <a:r>
              <a:t>对应初稿：§4.3</a:t>
            </a:r>
          </a:p>
          <a:p>
            <a:r>
              <a:t>建议用时：55秒</a:t>
            </a:r>
          </a:p>
          <a:p/>
          <a:p>
            <a:r>
              <a:t>三种图方法的任务和机制不同。GraphRAG在本文沿用初稿所选2025修订预印本，初版为2024年。不能因为辞书也有链接，就假定实体图的统一节点方式可以直接照搬。词头可能多义，参见关系也不保证等价。对于信息已经充分的短定义，简单文本检索可能就够用，图结构是否增益需要具体比较。</a:t>
            </a:r>
          </a:p>
          <a:p/>
          <a:p>
            <a:r>
              <a:t>参考来源（沿用初稿）：</a:t>
            </a:r>
          </a:p>
          <a:p>
            <a:r>
              <a:t>[26] SUN J, XU C, TANG L, et al. Think-on-Graph: Deep and Responsible Reasoning of Large Language Model on Knowledge Graph[C]. The Twelfth International Conference on Learning Representations, 2024. [原始来源](https://proceedings.iclr.cc/paper_files/paper/2024/hash/10a6bdcabbd5a3d36b760daa295f63c1-Abstract-Conference.html).</a:t>
            </a:r>
          </a:p>
          <a:p>
            <a:r>
              <a:t>[27] EDGE D, TRINH H, CHENG N, et al. From Local to Global: A Graph RAG Approach to Query-Focused Summarization[EB/OL]. arXiv:2404.16130v2（初版2024；本清单采用2025修订版）, 2025. [原始来源](https://arxiv.org/abs/2404.16130v2). DOI: 10.48550/arXiv.2404.16130.</a:t>
            </a:r>
          </a:p>
          <a:p>
            <a:r>
              <a:t>[28] JIMÉNEZ GUTIÉRREZ B, SHU Y, GU Y, et al. HippoRAG: Neurobiologically Inspired Long-Term Memory for Large Language Models[C]. Advances in Neural Information Processing Systems, 37, 2024. [原始来源](https://proceedings.neurips.cc/paper_files/paper/2024/hash/6ddc001d07ca4f319af96a3024f6dbd1-Abstract.html).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第16页｜直接案例一：低资源语言翻译</a:t>
            </a:r>
          </a:p>
          <a:p>
            <a:r>
              <a:t>对应初稿：§5.1</a:t>
            </a:r>
          </a:p>
          <a:p>
            <a:r>
              <a:t>建议用时：55秒</a:t>
            </a:r>
          </a:p>
          <a:p/>
          <a:p>
            <a:r>
              <a:t>这个案例直接把辞书内容用于生成时的外部知识，因此与本综述主题的联系比一般RAG论文更直接。其启示是，正确词条与合适例句本身就有价值，不必先建立庞大图谱。但词典覆盖、例句相关性和模型选择都会影响结果。初稿没有提取统一可比的性能数字，所以本页不补造或跨任务比较分数。</a:t>
            </a:r>
          </a:p>
          <a:p/>
          <a:p>
            <a:r>
              <a:t>参考来源（沿用初稿）：</a:t>
            </a:r>
          </a:p>
          <a:p>
            <a:r>
              <a:t>[29] MERX R, MAHMUDI A, LANGFORD K, et al. Low-Resource Machine Translation through Retrieval-Augmented LLM Prompting: A Study on the Mambai Language[C]. Proceedings of the 2nd EURALI Workshop @ LREC-COLING 2024: 1–11, 2024. [原始来源](https://aclanthology.org/2024.eurali-1.1/).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第17页｜直接案例二：历史语言理解</a:t>
            </a:r>
          </a:p>
          <a:p>
            <a:r>
              <a:t>对应初稿：§5.2</a:t>
            </a:r>
          </a:p>
          <a:p>
            <a:r>
              <a:t>建议用时：55秒</a:t>
            </a:r>
          </a:p>
          <a:p/>
          <a:p>
            <a:r>
              <a:t>该工作以多哈历史辞书为来源，面向包括《古兰经》与圣训在内的历史语言材料，说明词汇知识不仅是现代概念解释，还包含时期与语境信息。这里概述的是技术任务，不对宗教内容作评价。论文含训练组件，也结合自动评价和人工核验，因此不能描述成无训练且无需人工的通用系统。</a:t>
            </a:r>
          </a:p>
          <a:p/>
          <a:p>
            <a:r>
              <a:t>参考来源（沿用初稿）：</a:t>
            </a:r>
          </a:p>
          <a:p>
            <a:r>
              <a:t>[30] ELTANBOULY S, RASHWANI S. Grounding Arabic LLMs in the Doha Historical Dictionary: Retrieval-Augmented Understanding of Quran and Hadith[EB/OL]. arXiv:2603.23972v1, 2026. [原始来源](https://arxiv.org/abs/2603.23972). DOI: 10.48550/arXiv.2603.23972.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第18页｜已有证据支持什么，又没有支持什么？</a:t>
            </a:r>
          </a:p>
          <a:p>
            <a:r>
              <a:t>对应初稿：§5.3</a:t>
            </a:r>
          </a:p>
          <a:p>
            <a:r>
              <a:t>建议用时：40秒</a:t>
            </a:r>
          </a:p>
          <a:p/>
          <a:p>
            <a:r>
              <a:t>本页集中回应综述的证据边界。直接案例表明不是没有前人，通用技术也提供了丰富工具；但两者之间仍需要辞书任务级适配。不能把相邻技术结果包装成直接辞书成果，也不应把不同指标拼成绝对排名。更审慎的判断是：局部可行性已有证据，普遍可靠性尚需分任务检验。</a:t>
            </a:r>
          </a:p>
          <a:p/>
          <a:p>
            <a:r>
              <a:t>参考来源（沿用初稿）：</a:t>
            </a:r>
          </a:p>
          <a:p>
            <a:r>
              <a:t>[21] WANG H, LIANG Q, WANG Y, et al. Enhancing Lexical Relation Mining with Structured Sememe Knowledge[C]. Proceedings of ACL 2026, Volume 1: 4930–4947, 2026. [原始来源](https://aclanthology.org/2026.acl-long.224/). DOI: 10.18653/v1/2026.acl-long.224.</a:t>
            </a:r>
          </a:p>
          <a:p>
            <a:r>
              <a:t>[23] TRIVEDI H, BALASUBRAMANIAN N, KHOT T, et al. Interleaving Retrieval with Chain-of-Thought Reasoning for Knowledge-Intensive Multi-Step Questions[C]. Proceedings of ACL 2023, Volume 1: 10014–10037, 2023. [原始来源](https://aclanthology.org/2023.acl-long.557/). DOI: 10.18653/v1/2023.acl-long.557.</a:t>
            </a:r>
          </a:p>
          <a:p>
            <a:r>
              <a:t>[24] ASAI A, WU Z, WANG Y, et al. Self-RAG: Learning to Retrieve, Generate, and Critique through Self-Reflection[C]. The Twelfth International Conference on Learning Representations, 2024. [原始来源](https://proceedings.iclr.cc/paper_files/paper/2024/hash/25f7be9694d7b32d5cc670927b8091e1-Abstract-Conference.html).</a:t>
            </a:r>
          </a:p>
          <a:p>
            <a:r>
              <a:t>[25] JEONG S, BAEK J, CHO S, et al. Adaptive-RAG: Learning to Adapt Retrieval-Augmented Large Language Models through Question Complexity[C]. Proceedings of NAACL-HLT 2024, Volume 1: 7036–7050, 2024. [原始来源](https://aclanthology.org/2024.naacl-long.389/). DOI: 10.18653/v1/2024.naacl-long.389.</a:t>
            </a:r>
          </a:p>
          <a:p>
            <a:r>
              <a:t>[26] SUN J, XU C, TANG L, et al. Think-on-Graph: Deep and Responsible Reasoning of Large Language Model on Knowledge Graph[C]. The Twelfth International Conference on Learning Representations, 2024. [原始来源](https://proceedings.iclr.cc/paper_files/paper/2024/hash/10a6bdcabbd5a3d36b760daa295f63c1-Abstract-Conference.html).</a:t>
            </a:r>
          </a:p>
          <a:p>
            <a:r>
              <a:t>[27] EDGE D, TRINH H, CHENG N, et al. From Local to Global: A Graph RAG Approach to Query-Focused Summarization[EB/OL]. arXiv:2404.16130v2（初版2024；本清单采用2025修订版）, 2025. [原始来源](https://arxiv.org/abs/2404.16130v2). DOI: 10.48550/arXiv.2404.16130.</a:t>
            </a:r>
          </a:p>
          <a:p>
            <a:r>
              <a:t>[28] JIMÉNEZ GUTIÉRREZ B, SHU Y, GU Y, et al. HippoRAG: Neurobiologically Inspired Long-Term Memory for Large Language Models[C]. Advances in Neural Information Processing Systems, 37, 2024. [原始来源](https://proceedings.neurips.cc/paper_files/paper/2024/hash/6ddc001d07ca4f319af96a3024f6dbd1-Abstract.html).</a:t>
            </a:r>
          </a:p>
          <a:p>
            <a:r>
              <a:t>[29] MERX R, MAHMUDI A, LANGFORD K, et al. Low-Resource Machine Translation through Retrieval-Augmented LLM Prompting: A Study on the Mambai Language[C]. Proceedings of the 2nd EURALI Workshop @ LREC-COLING 2024: 1–11, 2024. [原始来源](https://aclanthology.org/2024.eurali-1.1/).</a:t>
            </a:r>
          </a:p>
          <a:p>
            <a:r>
              <a:t>[30] ELTANBOULY S, RASHWANI S. Grounding Arabic LLMs in the Doha Historical Dictionary: Retrieval-Augmented Understanding of Quran and Hadith[EB/OL]. arXiv:2603.23972v1, 2026. [原始来源](https://arxiv.org/abs/2603.23972). DOI: 10.48550/arXiv.2603.23972.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第19页｜评价需要分层，不能只看答案是否流畅</a:t>
            </a:r>
          </a:p>
          <a:p>
            <a:r>
              <a:t>对应初稿：§6.1／§7.4</a:t>
            </a:r>
          </a:p>
          <a:p>
            <a:r>
              <a:t>建议用时：50秒</a:t>
            </a:r>
          </a:p>
          <a:p/>
          <a:p>
            <a:r>
              <a:t>检索、生成和溯源必须分开，应用层则补充用户任务与成本。ALCE强调生成引用的评价，RAGAs区分上下文与回答质量，但自动裁判并不能替代全部辞书学判断。初稿提出的常用于正式场合与仅用于正式场合是说明性构造例子：流畅改写如果丢失强度差异，仍然可能改变解释。</a:t>
            </a:r>
          </a:p>
          <a:p/>
          <a:p>
            <a:r>
              <a:t>参考来源（沿用初稿）：</a:t>
            </a:r>
          </a:p>
          <a:p>
            <a:r>
              <a:t>[16] HUANG H, KAJIWARA T, ARASE Y. Definition Modelling for Appropriate Specificity[C]. Proceedings of EMNLP 2021: 2499–2509, 2021. [原始来源](https://aclanthology.org/2021.emnlp-main.194/). DOI: 10.18653/v1/2021.emnlp-main.194.</a:t>
            </a:r>
          </a:p>
          <a:p>
            <a:r>
              <a:t>[19] 方明炜, 朱君辉, 鲁鹿鸣, 等. 例句质量评估体系构建及大语言模型例句生成能力评估[C]. 第二十四届中国计算语言学大会论文集: 117–130, 2025. [原始来源](https://aclanthology.org/2025.ccl-1.10/).</a:t>
            </a:r>
          </a:p>
          <a:p>
            <a:r>
              <a:t>[31] GAO T, YEN H, YU J, et al. Enabling Large Language Models to Generate Text with Citations[C]. Proceedings of EMNLP 2023: 6465–6488, 2023. [原始来源](https://aclanthology.org/2023.emnlp-main.398/). DOI: 10.18653/v1/2023.emnlp-main.398.</a:t>
            </a:r>
          </a:p>
          <a:p>
            <a:r>
              <a:t>[32] ES S, JAMES J, ESPINOSA ANKE L, et al. RAGAs: Automated Evaluation of Retrieval Augmented Generation[C]. Proceedings of EACL 2024: System Demonstrations: 150–158, 2024. [原始来源](https://aclanthology.org/2024.eacl-demo.16/). DOI: 10.18653/v1/2024.eacl-demo.16.</a:t>
            </a:r>
          </a:p>
          <a:p>
            <a:r>
              <a:t>[35] ARTSTEIN R, POESIO M. Survey Article: Inter-Coder Agreement for Computational Linguistics[J]. Computational Linguistics, 34(4): 555–596, 2008. [原始来源](https://aclanthology.org/J08-4004/). DOI: 10.1162/coli.07-034-R2.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第20页｜真正利用了证据，还是依靠模型猜对？</a:t>
            </a:r>
          </a:p>
          <a:p>
            <a:r>
              <a:t>对应初稿：§6.2—§6.3</a:t>
            </a:r>
          </a:p>
          <a:p>
            <a:r>
              <a:t>建议用时：45秒</a:t>
            </a:r>
          </a:p>
          <a:p/>
          <a:p>
            <a:r>
              <a:t>Lost in the Middle在其受测任务和模型中发现信息位置影响表现，不应不加条件地推广到所有未来模型。MuSiQue则关注步骤之间真实的信息依赖。初稿据此建议通过证据移除、错义项替换和顺序变化检查使用过程。这些是评价设计建议，不代表本综述已经运行了这些实验。</a:t>
            </a:r>
          </a:p>
          <a:p/>
          <a:p>
            <a:r>
              <a:t>参考来源（沿用初稿）：</a:t>
            </a:r>
          </a:p>
          <a:p>
            <a:r>
              <a:t>[33] LIU N F, LIN K, HEWITT J, et al. Lost in the Middle: How Language Models Use Long Contexts[J]. Transactions of the Association for Computational Linguistics, 12: 157–173, 2024. [原始来源](https://aclanthology.org/2024.tacl-1.9/). DOI: 10.1162/tacl_a_00638.</a:t>
            </a:r>
          </a:p>
          <a:p>
            <a:r>
              <a:t>[34] TRIVEDI H, BALASUBRAMANIAN N, KHOT T, et al. ♫ MuSiQue: Multihop Questions via Single-hop Question Composition[J]. Transactions of the Association for Computational Linguistics, 10: 539–554, 2022. [原始来源](https://aclanthology.org/2022.tacl-1.31/). DOI: 10.1162/tacl_a_00475.</a:t>
            </a:r>
          </a:p>
          <a:p>
            <a:r>
              <a:t>[35] ARTSTEIN R, POESIO M. Survey Article: Inter-Coder Agreement for Computational Linguistics[J]. Computational Linguistics, 34(4): 555–596, 2008. [原始来源](https://aclanthology.org/J08-4004/). DOI: 10.1162/coli.07-034-R2.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第21页｜数据治理：来源、版本与使用条件</a:t>
            </a:r>
          </a:p>
          <a:p>
            <a:r>
              <a:t>对应初稿：§6.3—§6.4</a:t>
            </a:r>
          </a:p>
          <a:p>
            <a:r>
              <a:t>建议用时：45秒</a:t>
            </a:r>
          </a:p>
          <a:p/>
          <a:p>
            <a:r>
              <a:t>本页讨论研究管理，不作特定司法辖区的法律判断。辞书内容经过编纂，仍可能在电子化过程中发生截断、乱码或编号错位。应修正机械错误，同时保留有意义的来源差异。是否可以读取、处理或公开再发布需要分别确认；模型产生的新解释也应保留生成身份。</a:t>
            </a:r>
          </a:p>
          <a:p/>
          <a:p>
            <a:r>
              <a:t>参考来源（沿用初稿）：</a:t>
            </a:r>
          </a:p>
          <a:p>
            <a:r>
              <a:t>[4] AHMADI S, MCCRAE J P, NIMB S, et al. A Multilingual Evaluation Dataset for Monolingual Word Sense Alignment[C]. Proceedings of LREC 2020: 3232–3242, 2020. [原始来源](https://aclanthology.org/2020.lrec-1.395/).</a:t>
            </a:r>
          </a:p>
          <a:p>
            <a:r>
              <a:t>[10] TASOVAC T, ROMARY L, SALGADO A. TEI Lex-0: A baseline encoding for lexicographic data[R/OL]. ELEXIS – European Lexicographic Infrastructure, 2018. [原始来源](https://novaresearch.unl.pt/en/publications/tei-lex-0-a-baseline-encoding-for-lexicographic-data/).</a:t>
            </a:r>
          </a:p>
          <a:p>
            <a:r>
              <a:t>[11] CIMIANO P, MCCRAE J P, BUITELAAR P, eds. Lexicon Model for Ontologies: Community Report, 10 May 2016[R/OL]. W3C Ontology-Lexicon Community Group, 2016. [原始来源](https://www.w3.org/2016/05/ontolex/).</a:t>
            </a:r>
          </a:p>
          <a:p>
            <a:r>
              <a:t>[35] ARTSTEIN R, POESIO M. Survey Article: Inter-Coder Agreement for Computational Linguistics[J]. Computational Linguistics, 34(4): 555–596, 2008. [原始来源](https://aclanthology.org/J08-4004/). DOI: 10.1162/coli.07-034-R2.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第22页｜未来方向：可追溯的语义服务</a:t>
            </a:r>
          </a:p>
          <a:p>
            <a:r>
              <a:t>对应初稿：§7</a:t>
            </a:r>
          </a:p>
          <a:p>
            <a:r>
              <a:t>建议用时：55秒</a:t>
            </a:r>
          </a:p>
          <a:p/>
          <a:p>
            <a:r>
              <a:t>四个方向沿用初稿的综合判断，不是已完成的新系统。来源义项组织关注证据责任，轻量检索关注收益与成本，生成验证协同保留编纂审核，跨语言评价检查可迁移性。共同目标是让辞书与模型分工合作：辞书提供有来源的词汇解释，模型帮助交互和组织，评价机制约束二者连接。</a:t>
            </a:r>
          </a:p>
          <a:p/>
          <a:p>
            <a:r>
              <a:t>参考来源（沿用初稿）：</a:t>
            </a:r>
          </a:p>
          <a:p>
            <a:r>
              <a:t>[4] AHMADI S, MCCRAE J P, NIMB S, et al. A Multilingual Evaluation Dataset for Monolingual Word Sense Alignment[C]. Proceedings of LREC 2020: 3232–3242, 2020. [原始来源](https://aclanthology.org/2020.lrec-1.395/).</a:t>
            </a:r>
          </a:p>
          <a:p>
            <a:r>
              <a:t>[11] CIMIANO P, MCCRAE J P, BUITELAAR P, eds. Lexicon Model for Ontologies: Community Report, 10 May 2016[R/OL]. W3C Ontology-Lexicon Community Group, 2016. [原始来源](https://www.w3.org/2016/05/ontolex/).</a:t>
            </a:r>
          </a:p>
          <a:p>
            <a:r>
              <a:t>[16] HUANG H, KAJIWARA T, ARASE Y. Definition Modelling for Appropriate Specificity[C]. Proceedings of EMNLP 2021: 2499–2509, 2021. [原始来源](https://aclanthology.org/2021.emnlp-main.194/). DOI: 10.18653/v1/2021.emnlp-main.194.</a:t>
            </a:r>
          </a:p>
          <a:p>
            <a:r>
              <a:t>[18] CAI B, CLARENCE N, LIANG D, et al. Low-Cost Generation and Evaluation of Dictionary Example Sentences[C]. Proceedings of NAACL-HLT 2024, Volume 1: 3538–3549, 2024. [原始来源](https://aclanthology.org/2024.naacl-long.194/). DOI: 10.18653/v1/2024.naacl-long.194.</a:t>
            </a:r>
          </a:p>
          <a:p>
            <a:r>
              <a:t>[19] 方明炜, 朱君辉, 鲁鹿鸣, 等. 例句质量评估体系构建及大语言模型例句生成能力评估[C]. 第二十四届中国计算语言学大会论文集: 117–130, 2025. [原始来源](https://aclanthology.org/2025.ccl-1.10/).</a:t>
            </a:r>
          </a:p>
          <a:p>
            <a:r>
              <a:t>[24] ASAI A, WU Z, WANG Y, et al. Self-RAG: Learning to Retrieve, Generate, and Critique through Self-Reflection[C]. The Twelfth International Conference on Learning Representations, 2024. [原始来源](https://proceedings.iclr.cc/paper_files/paper/2024/hash/25f7be9694d7b32d5cc670927b8091e1-Abstract-Conference.html).</a:t>
            </a:r>
          </a:p>
          <a:p>
            <a:r>
              <a:t>[25] JEONG S, BAEK J, CHO S, et al. Adaptive-RAG: Learning to Adapt Retrieval-Augmented Large Language Models through Question Complexity[C]. Proceedings of NAACL-HLT 2024, Volume 1: 7036–7050, 2024. [原始来源](https://aclanthology.org/2024.naacl-long.389/). DOI: 10.18653/v1/2024.naacl-long.389.</a:t>
            </a:r>
          </a:p>
          <a:p>
            <a:r>
              <a:t>[26] SUN J, XU C, TANG L, et al. Think-on-Graph: Deep and Responsible Reasoning of Large Language Model on Knowledge Graph[C]. The Twelfth International Conference on Learning Representations, 2024. [原始来源](https://proceedings.iclr.cc/paper_files/paper/2024/hash/10a6bdcabbd5a3d36b760daa295f63c1-Abstract-Conference.html).</a:t>
            </a:r>
          </a:p>
          <a:p>
            <a:r>
              <a:t>[29] MERX R, MAHMUDI A, LANGFORD K, et al. Low-Resource Machine Translation through Retrieval-Augmented LLM Prompting: A Study on the Mambai Language[C]. Proceedings of the 2nd EURALI Workshop @ LREC-COLING 2024: 1–11, 2024. [原始来源](https://aclanthology.org/2024.eurali-1.1/).</a:t>
            </a:r>
          </a:p>
          <a:p>
            <a:r>
              <a:t>[30] ELTANBOULY S, RASHWANI S. Grounding Arabic LLMs in the Doha Historical Dictionary: Retrieval-Augmented Understanding of Quran and Hadith[EB/OL]. arXiv:2603.23972v1, 2026. [原始来源](https://arxiv.org/abs/2603.23972). DOI: 10.48550/arXiv.2603.23972.</a:t>
            </a:r>
          </a:p>
          <a:p>
            <a:r>
              <a:t>[31] GAO T, YEN H, YU J, et al. Enabling Large Language Models to Generate Text with Citations[C]. Proceedings of EMNLP 2023: 6465–6488, 2023. [原始来源](https://aclanthology.org/2023.emnlp-main.398/). DOI: 10.18653/v1/2023.emnlp-main.398.</a:t>
            </a:r>
          </a:p>
          <a:p>
            <a:r>
              <a:t>[32] ES S, JAMES J, ESPINOSA ANKE L, et al. RAGAs: Automated Evaluation of Retrieval Augmented Generation[C]. Proceedings of EACL 2024: System Demonstrations: 150–158, 2024. [原始来源](https://aclanthology.org/2024.eacl-demo.16/). DOI: 10.18653/v1/2024.eacl-demo.16.</a:t>
            </a:r>
          </a:p>
          <a:p>
            <a:r>
              <a:t>[35] ARTSTEIN R, POESIO M. Survey Article: Inter-Coder Agreement for Computational Linguistics[J]. Computational Linguistics, 34(4): 555–596, 2008. [原始来源](https://aclanthology.org/J08-4004/). DOI: 10.1162/coli.07-034-R2.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第23页｜从“找到词条”到“可靠解释”</a:t>
            </a:r>
          </a:p>
          <a:p>
            <a:r>
              <a:t>对应初稿：§8</a:t>
            </a:r>
          </a:p>
          <a:p>
            <a:r>
              <a:t>建议用时：35秒</a:t>
            </a:r>
          </a:p>
          <a:p/>
          <a:p>
            <a:r>
              <a:t>最后回到三个问题。数字辞书改变访问，语义资源帮助区分和连接意义，生成模型扩展表达方式，RAG引入外部证据。现有直接应用支持局部可行性，但不能自动推出全面成熟。值得追求的共同目标是：答案易于理解，同时能说明来源、适用条件及不确定性。可以请同学讨论：当不同辞书解释存在合理差异时，系统应该怎样呈现，而不是直接选一个覆盖其他来源？</a:t>
            </a:r>
          </a:p>
          <a:p/>
          <a:p>
            <a:r>
              <a:t>参考来源（沿用初稿）：</a:t>
            </a:r>
          </a:p>
          <a:p>
            <a:r>
              <a:t>[3] LEWIS P, PEREZ E, PIKTUS A, et al. Retrieval-Augmented Generation for Knowledge-Intensive NLP Tasks[C]. Advances in Neural Information Processing Systems, 33, 2020. [原始来源](https://papers.neurips.cc/paper/2020/hash/6b493230205f780e1bc26945df7481e5-Abstract.html).</a:t>
            </a:r>
          </a:p>
          <a:p>
            <a:r>
              <a:t>[4] AHMADI S, MCCRAE J P, NIMB S, et al. A Multilingual Evaluation Dataset for Monolingual Word Sense Alignment[C]. Proceedings of LREC 2020: 3232–3242, 2020. [原始来源](https://aclanthology.org/2020.lrec-1.395/).</a:t>
            </a:r>
          </a:p>
          <a:p>
            <a:r>
              <a:t>[29] MERX R, MAHMUDI A, LANGFORD K, et al. Low-Resource Machine Translation through Retrieval-Augmented LLM Prompting: A Study on the Mambai Language[C]. Proceedings of the 2nd EURALI Workshop @ LREC-COLING 2024: 1–11, 2024. [原始来源](https://aclanthology.org/2024.eurali-1.1/).</a:t>
            </a:r>
          </a:p>
          <a:p>
            <a:r>
              <a:t>[30] ELTANBOULY S, RASHWANI S. Grounding Arabic LLMs in the Doha Historical Dictionary: Retrieval-Augmented Understanding of Quran and Hadith[EB/OL]. arXiv:2603.23972v1, 2026. [原始来源](https://arxiv.org/abs/2603.23972). DOI: 10.48550/arXiv.2603.23972.</a:t>
            </a:r>
          </a:p>
          <a:p>
            <a:r>
              <a:t>[31] GAO T, YEN H, YU J, et al. Enabling Large Language Models to Generate Text with Citations[C]. Proceedings of EMNLP 2023: 6465–6488, 2023. [原始来源](https://aclanthology.org/2023.emnlp-main.398/). DOI: 10.18653/v1/2023.emnlp-main.398.</a:t>
            </a:r>
          </a:p>
          <a:p>
            <a:r>
              <a:t>[32] ES S, JAMES J, ESPINOSA ANKE L, et al. RAGAs: Automated Evaluation of Retrieval Augmented Generation[C]. Proceedings of EACL 2024: System Demonstrations: 150–158, 2024. [原始来源](https://aclanthology.org/2024.eacl-demo.16/). DOI: 10.18653/v1/2024.eacl-demo.16.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参考文献附录；编号、文献身份与初稿一致。</a:t>
            </a:r>
          </a:p>
          <a:p>
            <a:r>
              <a:t>[1] DE SCHRYVER G M. Lexicographers’ Dreams in the Electronic-Dictionary Age[J]. International Journal of Lexicography, 16(2): 143–199, 2003. [原始来源](https://doi.org/10.1093/ijl/16.2.143). DOI: 10.1093/ijl/16.2.143.</a:t>
            </a:r>
          </a:p>
          <a:p>
            <a:r>
              <a:t>[2] DE SCHRYVER G M. Generative AI and Lexicography: The Current State of the Art Using ChatGPT[J]. International Journal of Lexicography, 36(4): 355–387, 2023. [原始来源](https://doi.org/10.1093/ijl/ecad021). DOI: 10.1093/ijl/ecad021.</a:t>
            </a:r>
          </a:p>
          <a:p>
            <a:r>
              <a:t>[3] LEWIS P, PEREZ E, PIKTUS A, et al. Retrieval-Augmented Generation for Knowledge-Intensive NLP Tasks[C]. Advances in Neural Information Processing Systems, 33, 2020. [原始来源](https://papers.neurips.cc/paper/2020/hash/6b493230205f780e1bc26945df7481e5-Abstract.html).</a:t>
            </a:r>
          </a:p>
          <a:p>
            <a:r>
              <a:t>[4] AHMADI S, MCCRAE J P, NIMB S, et al. A Multilingual Evaluation Dataset for Monolingual Word Sense Alignment[C]. Proceedings of LREC 2020: 3232–3242, 2020. [原始来源](https://aclanthology.org/2020.lrec-1.395/).</a:t>
            </a:r>
          </a:p>
          <a:p>
            <a:r>
              <a:t>[5] MILLER G A. WordNet: A Lexical Database for English[J]. Communications of the ACM, 38(11): 39–41, 1995. [原始来源](https://doi.org/10.1145/219717.219748). DOI: 10.1145/219717.219748.</a:t>
            </a:r>
          </a:p>
          <a:p>
            <a:r>
              <a:t>[6] BAKER C F, FILLMORE C J, LOWE J B. The Berkeley FrameNet Project[C]. 36th Annual Meeting of the ACL and 17th International Conference on Computational Linguistics, Volume 1: 86–90, 1998. [原始来源](https://aclanthology.org/P98-1013/). DOI: 10.3115/980845.980860.</a:t>
            </a:r>
          </a:p>
          <a:p>
            <a:r>
              <a:t>[7] NAVIGLI R, PONZETTO S P. BabelNet: Building a Very Large Multilingual Semantic Network[C]. Proceedings of ACL 2010: 216–225, 2010. [原始来源](https://aclanthology.org/P10-1023/).</a:t>
            </a:r>
          </a:p>
          <a:p>
            <a:r>
              <a:t>[8] QI F, YANG C, LIU Z, et al. OpenHowNet: An Open Sememe-based Lexical Knowledge Base[EB/OL]. arXiv:1901.09957, 2019. [原始来源](https://arxiv.org/abs/1901.09957). DOI: 10.48550/arXiv.1901.09957.</a:t>
            </a:r>
          </a:p>
          <a:p>
            <a:r>
              <a:t>[9] 于宁, 王江萍, 石宇, 等. 基于义原表示学习的词向量表示方法[C]. 第二十届中国计算语言学大会论文集: 57–65, 2021. [原始来源](https://aclanthology.org/2021.ccl-1.6/).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参考文献附录；编号、文献身份与初稿一致。</a:t>
            </a:r>
          </a:p>
          <a:p>
            <a:r>
              <a:t>[10] TASOVAC T, ROMARY L, SALGADO A. TEI Lex-0: A baseline encoding for lexicographic data[R/OL]. ELEXIS – European Lexicographic Infrastructure, 2018. [原始来源](https://novaresearch.unl.pt/en/publications/tei-lex-0-a-baseline-encoding-for-lexicographic-data/).</a:t>
            </a:r>
          </a:p>
          <a:p>
            <a:r>
              <a:t>[11] CIMIANO P, MCCRAE J P, BUITELAAR P, eds. Lexicon Model for Ontologies: Community Report, 10 May 2016[R/OL]. W3C Ontology-Lexicon Community Group, 2016. [原始来源](https://www.w3.org/2016/05/ontolex/).</a:t>
            </a:r>
          </a:p>
          <a:p>
            <a:r>
              <a:t>[12] KILGARRIFF A, HUSÁK M, MCADAM K, et al. GDEX: Automatically Finding Good Dictionary Examples in a Corpus[C]. Proceedings of the 13th EURALEX International Congress: 425–432, 2008. [原始来源](https://euralex.org/publications/gdex-automatically-finding-good-dictionary-examples-in-a-corpus/).</a:t>
            </a:r>
          </a:p>
          <a:p>
            <a:r>
              <a:t>[13] PILEHVAR M T, CAMACHO-COLLADOS J. WiC: the Word-in-Context Dataset for Evaluating Context-Sensitive Meaning Representations[C]. Proceedings of NAACL-HLT 2019, Volume 1: 1267–1273, 2019. [原始来源](https://aclanthology.org/N19-1128/). DOI: 10.18653/v1/N19-1128.</a:t>
            </a:r>
          </a:p>
          <a:p>
            <a:r>
              <a:t>[14] NORASET T, LIANG C, BIRNBAUM L, et al. Definition Modeling: Learning to Define Word Embeddings in Natural Language[C]. Proceedings of the AAAI Conference on Artificial Intelligence, 31(1), 2017. [原始来源](https://ojs.aaai.org/index.php/AAAI/article/view/10996). DOI: 10.1609/aaai.v31i1.10996.</a:t>
            </a:r>
          </a:p>
          <a:p>
            <a:r>
              <a:t>[15] QI F, ZHANG L, YANG Y, et al. WantWords: An Open-source Online Reverse Dictionary System[C]. Proceedings of EMNLP 2020: System Demonstrations: 175–181, 2020. [原始来源](https://aclanthology.org/2020.emnlp-demos.23/). DOI: 10.18653/v1/2020.emnlp-demos.23.</a:t>
            </a:r>
          </a:p>
          <a:p>
            <a:r>
              <a:t>[16] HUANG H, KAJIWARA T, ARASE Y. Definition Modelling for Appropriate Specificity[C]. Proceedings of EMNLP 2021: 2499–2509, 2021. [原始来源](https://aclanthology.org/2021.emnlp-main.194/). DOI: 10.18653/v1/2021.emnlp-main.194.</a:t>
            </a:r>
          </a:p>
          <a:p>
            <a:r>
              <a:t>[17] GIULIANELLI M, LUDEN I, FERNÁNDEZ R, et al. Interpretable Word Sense Representations via Definition Generation: The Case of Semantic Change Analysis[C]. Proceedings of ACL 2023, Volume 1: 3130–3148, 2023. [原始来源](https://aclanthology.org/2023.acl-long.176/). DOI: 10.18653/v1/2023.acl-long.176.</a:t>
            </a:r>
          </a:p>
          <a:p>
            <a:r>
              <a:t>[18] CAI B, CLARENCE N, LIANG D, et al. Low-Cost Generation and Evaluation of Dictionary Example Sentences[C]. Proceedings of NAACL-HLT 2024, Volume 1: 3538–3549, 2024. [原始来源](https://aclanthology.org/2024.naacl-long.194/). DOI: 10.18653/v1/2024.naacl-long.194.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参考文献附录；编号、文献身份与初稿一致。</a:t>
            </a:r>
          </a:p>
          <a:p>
            <a:r>
              <a:t>[19] 方明炜, 朱君辉, 鲁鹿鸣, 等. 例句质量评估体系构建及大语言模型例句生成能力评估[C]. 第二十四届中国计算语言学大会论文集: 117–130, 2025. [原始来源](https://aclanthology.org/2025.ccl-1.10/).</a:t>
            </a:r>
          </a:p>
          <a:p>
            <a:r>
              <a:t>[20] MECONI D, STIRPE S, MARTELLI F, et al. Do Large Language Models Understand Word Senses?[C]. Proceedings of EMNLP 2025: 33897–33916, 2025. [原始来源](https://aclanthology.org/2025.emnlp-main.1720/). DOI: 10.18653/v1/2025.emnlp-main.1720.</a:t>
            </a:r>
          </a:p>
          <a:p>
            <a:r>
              <a:t>[21] WANG H, LIANG Q, WANG Y, et al. Enhancing Lexical Relation Mining with Structured Sememe Knowledge[C]. Proceedings of ACL 2026, Volume 1: 4930–4947, 2026. [原始来源](https://aclanthology.org/2026.acl-long.224/). DOI: 10.18653/v1/2026.acl-long.224.</a:t>
            </a:r>
          </a:p>
          <a:p>
            <a:r>
              <a:t>[22] KARPUKHIN V, OGUZ B, MIN S, et al. Dense Passage Retrieval for Open-Domain Question Answering[C]. Proceedings of EMNLP 2020: 6769–6781, 2020. [原始来源](https://aclanthology.org/2020.emnlp-main.550/). DOI: 10.18653/v1/2020.emnlp-main.550.</a:t>
            </a:r>
          </a:p>
          <a:p>
            <a:r>
              <a:t>[23] TRIVEDI H, BALASUBRAMANIAN N, KHOT T, et al. Interleaving Retrieval with Chain-of-Thought Reasoning for Knowledge-Intensive Multi-Step Questions[C]. Proceedings of ACL 2023, Volume 1: 10014–10037, 2023. [原始来源](https://aclanthology.org/2023.acl-long.557/). DOI: 10.18653/v1/2023.acl-long.557.</a:t>
            </a:r>
          </a:p>
          <a:p>
            <a:r>
              <a:t>[24] ASAI A, WU Z, WANG Y, et al. Self-RAG: Learning to Retrieve, Generate, and Critique through Self-Reflection[C]. The Twelfth International Conference on Learning Representations, 2024. [原始来源](https://proceedings.iclr.cc/paper_files/paper/2024/hash/25f7be9694d7b32d5cc670927b8091e1-Abstract-Conference.html).</a:t>
            </a:r>
          </a:p>
          <a:p>
            <a:r>
              <a:t>[25] JEONG S, BAEK J, CHO S, et al. Adaptive-RAG: Learning to Adapt Retrieval-Augmented Large Language Models through Question Complexity[C]. Proceedings of NAACL-HLT 2024, Volume 1: 7036–7050, 2024. [原始来源](https://aclanthology.org/2024.naacl-long.389/). DOI: 10.18653/v1/2024.naacl-long.389.</a:t>
            </a:r>
          </a:p>
          <a:p>
            <a:r>
              <a:t>[26] SUN J, XU C, TANG L, et al. Think-on-Graph: Deep and Responsible Reasoning of Large Language Model on Knowledge Graph[C]. The Twelfth International Conference on Learning Representations, 2024. [原始来源](https://proceedings.iclr.cc/paper_files/paper/2024/hash/10a6bdcabbd5a3d36b760daa295f63c1-Abstract-Conference.html).</a:t>
            </a:r>
          </a:p>
          <a:p>
            <a:r>
              <a:t>[27] EDGE D, TRINH H, CHENG N, et al. From Local to Global: A Graph RAG Approach to Query-Focused Summarization[EB/OL]. arXiv:2404.16130v2（初版2024；本清单采用2025修订版）, 2025. [原始来源](https://arxiv.org/abs/2404.16130v2). DOI: 10.48550/arXiv.2404.16130.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参考文献附录；编号、文献身份与初稿一致。</a:t>
            </a:r>
          </a:p>
          <a:p>
            <a:r>
              <a:t>[28] JIMÉNEZ GUTIÉRREZ B, SHU Y, GU Y, et al. HippoRAG: Neurobiologically Inspired Long-Term Memory for Large Language Models[C]. Advances in Neural Information Processing Systems, 37, 2024. [原始来源](https://proceedings.neurips.cc/paper_files/paper/2024/hash/6ddc001d07ca4f319af96a3024f6dbd1-Abstract.html).</a:t>
            </a:r>
          </a:p>
          <a:p>
            <a:r>
              <a:t>[29] MERX R, MAHMUDI A, LANGFORD K, et al. Low-Resource Machine Translation through Retrieval-Augmented LLM Prompting: A Study on the Mambai Language[C]. Proceedings of the 2nd EURALI Workshop @ LREC-COLING 2024: 1–11, 2024. [原始来源](https://aclanthology.org/2024.eurali-1.1/).</a:t>
            </a:r>
          </a:p>
          <a:p>
            <a:r>
              <a:t>[30] ELTANBOULY S, RASHWANI S. Grounding Arabic LLMs in the Doha Historical Dictionary: Retrieval-Augmented Understanding of Quran and Hadith[EB/OL]. arXiv:2603.23972v1, 2026. [原始来源](https://arxiv.org/abs/2603.23972). DOI: 10.48550/arXiv.2603.23972.</a:t>
            </a:r>
          </a:p>
          <a:p>
            <a:r>
              <a:t>[31] GAO T, YEN H, YU J, et al. Enabling Large Language Models to Generate Text with Citations[C]. Proceedings of EMNLP 2023: 6465–6488, 2023. [原始来源](https://aclanthology.org/2023.emnlp-main.398/). DOI: 10.18653/v1/2023.emnlp-main.398.</a:t>
            </a:r>
          </a:p>
          <a:p>
            <a:r>
              <a:t>[32] ES S, JAMES J, ESPINOSA ANKE L, et al. RAGAs: Automated Evaluation of Retrieval Augmented Generation[C]. Proceedings of EACL 2024: System Demonstrations: 150–158, 2024. [原始来源](https://aclanthology.org/2024.eacl-demo.16/). DOI: 10.18653/v1/2024.eacl-demo.16.</a:t>
            </a:r>
          </a:p>
          <a:p>
            <a:r>
              <a:t>[33] LIU N F, LIN K, HEWITT J, et al. Lost in the Middle: How Language Models Use Long Contexts[J]. Transactions of the Association for Computational Linguistics, 12: 157–173, 2024. [原始来源](https://aclanthology.org/2024.tacl-1.9/). DOI: 10.1162/tacl_a_00638.</a:t>
            </a:r>
          </a:p>
          <a:p>
            <a:r>
              <a:t>[34] TRIVEDI H, BALASUBRAMANIAN N, KHOT T, et al. ♫ MuSiQue: Multihop Questions via Single-hop Question Composition[J]. Transactions of the Association for Computational Linguistics, 10: 539–554, 2022. [原始来源](https://aclanthology.org/2022.tacl-1.31/). DOI: 10.1162/tacl_a_00475.</a:t>
            </a:r>
          </a:p>
          <a:p>
            <a:r>
              <a:t>[35] ARTSTEIN R, POESIO M. Survey Article: Inter-Coder Agreement for Computational Linguistics[J]. Computational Linguistics, 34(4): 555–596, 2008. [原始来源](https://aclanthology.org/J08-4004/). DOI: 10.1162/coli.07-034-R2.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93/ijl/16.2.143" TargetMode="External"/><Relationship Id="rId3" Type="http://schemas.openxmlformats.org/officeDocument/2006/relationships/hyperlink" Target="https://doi.org/10.1093/ijl/ecad021" TargetMode="External"/><Relationship Id="rId4" Type="http://schemas.openxmlformats.org/officeDocument/2006/relationships/hyperlink" Target="https://papers.neurips.cc/paper/2020/hash/6b493230205f780e1bc26945df7481e5-Abstract.html" TargetMode="External"/><Relationship Id="rId5" Type="http://schemas.openxmlformats.org/officeDocument/2006/relationships/hyperlink" Target="https://aclanthology.org/2020.lrec-1.395/" TargetMode="External"/><Relationship Id="rId6" Type="http://schemas.openxmlformats.org/officeDocument/2006/relationships/hyperlink" Target="https://doi.org/10.1145/219717.219748" TargetMode="External"/><Relationship Id="rId7" Type="http://schemas.openxmlformats.org/officeDocument/2006/relationships/hyperlink" Target="https://aclanthology.org/P98-1013/" TargetMode="External"/><Relationship Id="rId8" Type="http://schemas.openxmlformats.org/officeDocument/2006/relationships/hyperlink" Target="https://aclanthology.org/P10-1023/" TargetMode="External"/><Relationship Id="rId9" Type="http://schemas.openxmlformats.org/officeDocument/2006/relationships/hyperlink" Target="https://arxiv.org/abs/1901.09957" TargetMode="External"/><Relationship Id="rId10" Type="http://schemas.openxmlformats.org/officeDocument/2006/relationships/hyperlink" Target="https://aclanthology.org/2021.ccl-1.6/" TargetMode="External"/><Relationship Id="rId11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ovaresearch.unl.pt/en/publications/tei-lex-0-a-baseline-encoding-for-lexicographic-data/" TargetMode="External"/><Relationship Id="rId3" Type="http://schemas.openxmlformats.org/officeDocument/2006/relationships/hyperlink" Target="https://www.w3.org/2016/05/ontolex/" TargetMode="External"/><Relationship Id="rId4" Type="http://schemas.openxmlformats.org/officeDocument/2006/relationships/hyperlink" Target="https://euralex.org/publications/gdex-automatically-finding-good-dictionary-examples-in-a-corpus/" TargetMode="External"/><Relationship Id="rId5" Type="http://schemas.openxmlformats.org/officeDocument/2006/relationships/hyperlink" Target="https://aclanthology.org/N19-1128/" TargetMode="External"/><Relationship Id="rId6" Type="http://schemas.openxmlformats.org/officeDocument/2006/relationships/hyperlink" Target="https://ojs.aaai.org/index.php/AAAI/article/view/10996" TargetMode="External"/><Relationship Id="rId7" Type="http://schemas.openxmlformats.org/officeDocument/2006/relationships/hyperlink" Target="https://aclanthology.org/2020.emnlp-demos.23/" TargetMode="External"/><Relationship Id="rId8" Type="http://schemas.openxmlformats.org/officeDocument/2006/relationships/hyperlink" Target="https://aclanthology.org/2021.emnlp-main.194/" TargetMode="External"/><Relationship Id="rId9" Type="http://schemas.openxmlformats.org/officeDocument/2006/relationships/hyperlink" Target="https://aclanthology.org/2023.acl-long.176/" TargetMode="External"/><Relationship Id="rId10" Type="http://schemas.openxmlformats.org/officeDocument/2006/relationships/hyperlink" Target="https://aclanthology.org/2024.naacl-long.194/" TargetMode="External"/><Relationship Id="rId11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clanthology.org/2025.ccl-1.10/" TargetMode="External"/><Relationship Id="rId3" Type="http://schemas.openxmlformats.org/officeDocument/2006/relationships/hyperlink" Target="https://aclanthology.org/2025.emnlp-main.1720/" TargetMode="External"/><Relationship Id="rId4" Type="http://schemas.openxmlformats.org/officeDocument/2006/relationships/hyperlink" Target="https://aclanthology.org/2026.acl-long.224/" TargetMode="External"/><Relationship Id="rId5" Type="http://schemas.openxmlformats.org/officeDocument/2006/relationships/hyperlink" Target="https://aclanthology.org/2020.emnlp-main.550/" TargetMode="External"/><Relationship Id="rId6" Type="http://schemas.openxmlformats.org/officeDocument/2006/relationships/hyperlink" Target="https://aclanthology.org/2023.acl-long.557/" TargetMode="External"/><Relationship Id="rId7" Type="http://schemas.openxmlformats.org/officeDocument/2006/relationships/hyperlink" Target="https://proceedings.iclr.cc/paper_files/paper/2024/hash/25f7be9694d7b32d5cc670927b8091e1-Abstract-Conference.html" TargetMode="External"/><Relationship Id="rId8" Type="http://schemas.openxmlformats.org/officeDocument/2006/relationships/hyperlink" Target="https://aclanthology.org/2024.naacl-long.389/" TargetMode="External"/><Relationship Id="rId9" Type="http://schemas.openxmlformats.org/officeDocument/2006/relationships/hyperlink" Target="https://proceedings.iclr.cc/paper_files/paper/2024/hash/10a6bdcabbd5a3d36b760daa295f63c1-Abstract-Conference.html" TargetMode="External"/><Relationship Id="rId10" Type="http://schemas.openxmlformats.org/officeDocument/2006/relationships/hyperlink" Target="https://arxiv.org/abs/2404.16130v2" TargetMode="External"/><Relationship Id="rId11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oceedings.neurips.cc/paper_files/paper/2024/hash/6ddc001d07ca4f319af96a3024f6dbd1-Abstract.html" TargetMode="External"/><Relationship Id="rId3" Type="http://schemas.openxmlformats.org/officeDocument/2006/relationships/hyperlink" Target="https://aclanthology.org/2024.eurali-1.1/" TargetMode="External"/><Relationship Id="rId4" Type="http://schemas.openxmlformats.org/officeDocument/2006/relationships/hyperlink" Target="https://arxiv.org/abs/2603.23972" TargetMode="External"/><Relationship Id="rId5" Type="http://schemas.openxmlformats.org/officeDocument/2006/relationships/hyperlink" Target="https://aclanthology.org/2023.emnlp-main.398/" TargetMode="External"/><Relationship Id="rId6" Type="http://schemas.openxmlformats.org/officeDocument/2006/relationships/hyperlink" Target="https://aclanthology.org/2024.eacl-demo.16/" TargetMode="External"/><Relationship Id="rId7" Type="http://schemas.openxmlformats.org/officeDocument/2006/relationships/hyperlink" Target="https://aclanthology.org/2024.tacl-1.9/" TargetMode="External"/><Relationship Id="rId8" Type="http://schemas.openxmlformats.org/officeDocument/2006/relationships/hyperlink" Target="https://aclanthology.org/2022.tacl-1.31/" TargetMode="External"/><Relationship Id="rId9" Type="http://schemas.openxmlformats.org/officeDocument/2006/relationships/hyperlink" Target="https://aclanthology.org/J08-4004/" TargetMode="External"/><Relationship Id="rId10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1">
                <a:solidFill>
                  <a:srgbClr val="A8CEBF"/>
                </a:solidFill>
                <a:latin typeface="Noto Sans CJK SC"/>
                <a:ea typeface="Noto Sans CJK SC"/>
              </a:rPr>
              <a:t>专业写作基础  ·  文献综述汇报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841248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60"/>
              </a:spcAft>
            </a:pPr>
            <a:r>
              <a:rPr sz="3800" b="1">
                <a:solidFill>
                  <a:srgbClr val="FFFFFF"/>
                </a:solidFill>
                <a:latin typeface="Noto Serif CJK SC"/>
                <a:ea typeface="Noto Serif CJK SC"/>
              </a:rPr>
              <a:t>辞书知识与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60"/>
              </a:spcAft>
            </a:pPr>
            <a:r>
              <a:rPr sz="3800" b="1">
                <a:solidFill>
                  <a:srgbClr val="FFFFFF"/>
                </a:solidFill>
                <a:latin typeface="Noto Serif CJK SC"/>
                <a:ea typeface="Noto Serif CJK SC"/>
              </a:rPr>
              <a:t>检索增强生成的融合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</a:pPr>
            <a:r>
              <a:rPr sz="2100" b="0">
                <a:solidFill>
                  <a:srgbClr val="D6E7E0"/>
                </a:solidFill>
                <a:latin typeface="Noto Sans CJK SC"/>
                <a:ea typeface="Noto Sans CJK SC"/>
              </a:rPr>
              <a:t>语义表示、技术路径与发展趋势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4407408"/>
            <a:ext cx="5852160" cy="0"/>
          </a:xfrm>
          <a:prstGeom prst="line">
            <a:avLst/>
          </a:prstGeom>
          <a:ln w="25400">
            <a:solidFill>
              <a:srgbClr val="B07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4736592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80"/>
              </a:spcAft>
            </a:pPr>
            <a:r>
              <a:rPr sz="1900" b="0">
                <a:solidFill>
                  <a:srgbClr val="FFFFFF"/>
                </a:solidFill>
                <a:latin typeface="Noto Sans CJK SC"/>
                <a:ea typeface="Noto Sans CJK SC"/>
              </a:rPr>
              <a:t>从词条查询走向可追溯的语言知识服务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1100" b="0">
                <a:solidFill>
                  <a:srgbClr val="AAC0BD"/>
                </a:solidFill>
                <a:latin typeface="Noto Sans CJK SC"/>
                <a:ea typeface="Noto Sans CJK SC"/>
              </a:rPr>
              <a:t>2026年9月  |  文献范围沿用初稿：截至2026-09-22</a:t>
            </a:r>
          </a:p>
        </p:txBody>
      </p:sp>
      <p:sp>
        <p:nvSpPr>
          <p:cNvPr id="8" name="Oval 7"/>
          <p:cNvSpPr/>
          <p:nvPr/>
        </p:nvSpPr>
        <p:spPr>
          <a:xfrm>
            <a:off x="9418320" y="1188720"/>
            <a:ext cx="1115568" cy="1024128"/>
          </a:xfrm>
          <a:prstGeom prst="ellipse">
            <a:avLst/>
          </a:prstGeom>
          <a:solidFill>
            <a:srgbClr val="1B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0" y="1536192"/>
            <a:ext cx="9326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辞书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9171432" y="1783080"/>
            <a:ext cx="813816" cy="1783080"/>
          </a:xfrm>
          <a:prstGeom prst="line">
            <a:avLst/>
          </a:prstGeom>
          <a:ln w="19050">
            <a:solidFill>
              <a:srgbClr val="40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641080" y="3063240"/>
            <a:ext cx="1115568" cy="1024128"/>
          </a:xfrm>
          <a:prstGeom prst="ellipse">
            <a:avLst/>
          </a:prstGeom>
          <a:solidFill>
            <a:srgbClr val="1B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19" y="3410712"/>
            <a:ext cx="9326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语义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985248" y="1783080"/>
            <a:ext cx="768096" cy="1783080"/>
          </a:xfrm>
          <a:prstGeom prst="line">
            <a:avLst/>
          </a:prstGeom>
          <a:ln w="19050">
            <a:solidFill>
              <a:srgbClr val="40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222992" y="3063240"/>
            <a:ext cx="1115568" cy="1024128"/>
          </a:xfrm>
          <a:prstGeom prst="ellipse">
            <a:avLst/>
          </a:prstGeom>
          <a:solidFill>
            <a:srgbClr val="1B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14432" y="3410712"/>
            <a:ext cx="9326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证据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9948672" y="1783080"/>
            <a:ext cx="36576" cy="3520440"/>
          </a:xfrm>
          <a:prstGeom prst="line">
            <a:avLst/>
          </a:prstGeom>
          <a:ln w="19050">
            <a:solidFill>
              <a:srgbClr val="40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418320" y="4800600"/>
            <a:ext cx="1115568" cy="1024128"/>
          </a:xfrm>
          <a:prstGeom prst="ellipse">
            <a:avLst/>
          </a:prstGeom>
          <a:solidFill>
            <a:srgbClr val="1B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5148072"/>
            <a:ext cx="9326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综述框架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三个问题，串起整篇综述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从“查到词条”走向“有依据地解释词义”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核心判断：融合的关键是可追溯的词汇证据，而不只是更多文本。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§1  [1] [2] [3] [4]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02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为什么融合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访问需求改变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模型知识需要外部证据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多源释义需要语义区分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8160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8160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8472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8472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怎样融合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8472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数字编码与义项对齐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生成与检索协同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文本、图与按需控制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80248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80248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0560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0560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发展到哪里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560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区分直接证据与技术启发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识别数据和评价限制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提出可验证的未来方向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材料与方法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先区分证据层次，再评价技术发展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主题式、批判性综述；不声称穷尽检索或完成元分析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直接案例支持可行性；跨语言、跨来源的普遍有效性仍需验证。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§1.1  [4] [5] [11] [21] [23] [29] [30]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03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2029968"/>
            <a:ext cx="11018520" cy="941832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" y="2029968"/>
            <a:ext cx="2011680" cy="941832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322576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</a:pPr>
            <a:r>
              <a:rPr sz="2100" b="1">
                <a:solidFill>
                  <a:srgbClr val="176B62"/>
                </a:solidFill>
                <a:latin typeface="Noto Sans CJK SC"/>
                <a:ea typeface="Noto Sans CJK SC"/>
              </a:rPr>
              <a:t>基础研究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231136"/>
            <a:ext cx="5715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数字辞书、语义资源、互操作与对齐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2860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</a:pPr>
            <a:r>
              <a:rPr sz="1600" b="1">
                <a:solidFill>
                  <a:srgbClr val="B07A3F"/>
                </a:solidFill>
                <a:latin typeface="Noto Sans CJK SC"/>
                <a:ea typeface="Noto Sans CJK SC"/>
              </a:rPr>
              <a:t>解释问题从哪里来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" y="3118104"/>
            <a:ext cx="11018520" cy="941832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" y="3118104"/>
            <a:ext cx="2011680" cy="941832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41071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</a:pPr>
            <a:r>
              <a:rPr sz="2100" b="1">
                <a:solidFill>
                  <a:srgbClr val="176B62"/>
                </a:solidFill>
                <a:latin typeface="Noto Sans CJK SC"/>
                <a:ea typeface="Noto Sans CJK SC"/>
              </a:rPr>
              <a:t>相邻技术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352" y="3319272"/>
            <a:ext cx="5715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生成模型、检索控制、图与关联检索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374136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</a:pPr>
            <a:r>
              <a:rPr sz="1600" b="1">
                <a:solidFill>
                  <a:srgbClr val="B07A3F"/>
                </a:solidFill>
                <a:latin typeface="Noto Sans CJK SC"/>
                <a:ea typeface="Noto Sans CJK SC"/>
              </a:rPr>
              <a:t>提供可借鉴的机制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" y="4206240"/>
            <a:ext cx="11018520" cy="941832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6" y="4206240"/>
            <a:ext cx="2011680" cy="94183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49884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直接应用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6352" y="4407407"/>
            <a:ext cx="5715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Mambai翻译、历史阿拉伯语理解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462272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</a:pPr>
            <a:r>
              <a:rPr sz="1600" b="1">
                <a:solidFill>
                  <a:srgbClr val="B07A3F"/>
                </a:solidFill>
                <a:latin typeface="Noto Sans CJK SC"/>
                <a:ea typeface="Noto Sans CJK SC"/>
              </a:rPr>
              <a:t>支持特定任务中的效果判断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文献概述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融合动因：三种需求同时发生变化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技术价值取决于它能否回应真实语言问题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检索到了辞书，不等于正确理解了辞书。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§1／§3.1  [1] [2] [3] [4] [15]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04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访问方式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从查词头到按描述找词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从单一词条到自然语言交互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8160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8160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8472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8472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意义解释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8472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同形词可能具有多个义项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相似释义可能存在粒度差异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80248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80248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0560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0560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回答依据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560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需要注明来源与使用条件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需要区分已有证据和新增解释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文献概述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发展脉络：多条路线汇合，而非逐代替代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年份表示本文引用的代表工作，不表示某项技术在该年首次出现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历史基础仍然有效：编码、语料和语义关系不会因生成模型出现而失去作用。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§2—§5  [1] [3] [5] [6] [7] [10] [11] [12] [14] [15] [16] [17] [29] [30]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05 / 27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2761488"/>
            <a:ext cx="10543032" cy="0"/>
          </a:xfrm>
          <a:prstGeom prst="line">
            <a:avLst/>
          </a:prstGeom>
          <a:ln w="25400">
            <a:solidFill>
              <a:srgbClr val="176B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215798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76B62"/>
                </a:solidFill>
                <a:latin typeface="Noto Sans CJK SC"/>
                <a:ea typeface="Noto Sans CJK SC"/>
              </a:rPr>
              <a:t>1995—2010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670048"/>
            <a:ext cx="182880" cy="182880"/>
          </a:xfrm>
          <a:prstGeom prst="ellipse">
            <a:avLst/>
          </a:prstGeom>
          <a:solidFill>
            <a:srgbClr val="B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</a:pPr>
            <a:r>
              <a:rPr sz="2100" b="1">
                <a:solidFill>
                  <a:srgbClr val="14353C"/>
                </a:solidFill>
                <a:latin typeface="Noto Sans CJK SC"/>
                <a:ea typeface="Noto Sans CJK SC"/>
              </a:rPr>
              <a:t>语义资源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68496"/>
            <a:ext cx="253288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WordNet／FrameNet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BabelNet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15798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76B62"/>
                </a:solidFill>
                <a:latin typeface="Noto Sans CJK SC"/>
                <a:ea typeface="Noto Sans CJK SC"/>
              </a:rPr>
              <a:t>2003—2018</a:t>
            </a:r>
          </a:p>
        </p:txBody>
      </p:sp>
      <p:sp>
        <p:nvSpPr>
          <p:cNvPr id="18" name="Oval 17"/>
          <p:cNvSpPr/>
          <p:nvPr/>
        </p:nvSpPr>
        <p:spPr>
          <a:xfrm>
            <a:off x="3474720" y="2670048"/>
            <a:ext cx="182880" cy="182880"/>
          </a:xfrm>
          <a:prstGeom prst="ellipse">
            <a:avLst/>
          </a:prstGeom>
          <a:solidFill>
            <a:srgbClr val="B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3154680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</a:pPr>
            <a:r>
              <a:rPr sz="2100" b="1">
                <a:solidFill>
                  <a:srgbClr val="14353C"/>
                </a:solidFill>
                <a:latin typeface="Noto Sans CJK SC"/>
                <a:ea typeface="Noto Sans CJK SC"/>
              </a:rPr>
              <a:t>数字辞书与编码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968496"/>
            <a:ext cx="253288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电子辞书／GDEX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OntoLex／TEI Lex-0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15798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76B62"/>
                </a:solidFill>
                <a:latin typeface="Noto Sans CJK SC"/>
                <a:ea typeface="Noto Sans CJK SC"/>
              </a:rPr>
              <a:t>2017—2023</a:t>
            </a:r>
          </a:p>
        </p:txBody>
      </p:sp>
      <p:sp>
        <p:nvSpPr>
          <p:cNvPr id="22" name="Oval 21"/>
          <p:cNvSpPr/>
          <p:nvPr/>
        </p:nvSpPr>
        <p:spPr>
          <a:xfrm>
            <a:off x="6309359" y="2670048"/>
            <a:ext cx="182880" cy="182880"/>
          </a:xfrm>
          <a:prstGeom prst="ellipse">
            <a:avLst/>
          </a:prstGeom>
          <a:solidFill>
            <a:srgbClr val="B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154680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</a:pPr>
            <a:r>
              <a:rPr sz="2100" b="1">
                <a:solidFill>
                  <a:srgbClr val="14353C"/>
                </a:solidFill>
                <a:latin typeface="Noto Sans CJK SC"/>
                <a:ea typeface="Noto Sans CJK SC"/>
              </a:rPr>
              <a:t>生成与词义表示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968496"/>
            <a:ext cx="253288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定义建模／WantWords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具体性／语义变化分析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15798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76B62"/>
                </a:solidFill>
                <a:latin typeface="Noto Sans CJK SC"/>
                <a:ea typeface="Noto Sans CJK SC"/>
              </a:rPr>
              <a:t>2020—2026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0" y="2670048"/>
            <a:ext cx="182880" cy="182880"/>
          </a:xfrm>
          <a:prstGeom prst="ellipse">
            <a:avLst/>
          </a:prstGeom>
          <a:solidFill>
            <a:srgbClr val="B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3154680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</a:pPr>
            <a:r>
              <a:rPr sz="2100" b="1">
                <a:solidFill>
                  <a:srgbClr val="14353C"/>
                </a:solidFill>
                <a:latin typeface="Noto Sans CJK SC"/>
                <a:ea typeface="Noto Sans CJK SC"/>
              </a:rPr>
              <a:t>检索与证据组织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968496"/>
            <a:ext cx="253288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RAG与DPR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按需、图检索及直接案例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文献概述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语义资源的关键差异：表示单位不同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同样具有“节点与边”，也不意味着解决同一种问题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显式结构与分布式表示宜分工协作，而非二选一。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§2.1  [5] [6] [7] [8] [9]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06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2048256"/>
            <a:ext cx="2766060" cy="6446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76272"/>
            <a:ext cx="2478024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资源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74136" y="2048256"/>
            <a:ext cx="3707891" cy="6446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176272"/>
            <a:ext cx="3419856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主要表示单位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04888" y="2048256"/>
            <a:ext cx="4475988" cy="6446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1192" y="2176272"/>
            <a:ext cx="418795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为融合提供什么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2715768"/>
            <a:ext cx="276606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843784"/>
            <a:ext cx="2478024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1">
                <a:solidFill>
                  <a:srgbClr val="14353C"/>
                </a:solidFill>
                <a:latin typeface="Noto Sans CJK SC"/>
                <a:ea typeface="Noto Sans CJK SC"/>
              </a:rPr>
              <a:t>WordNet [5]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74136" y="2715768"/>
            <a:ext cx="3707891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2843784"/>
            <a:ext cx="3419856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同义词集、词汇语义关系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4888" y="2715768"/>
            <a:ext cx="4475988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51192" y="2843784"/>
            <a:ext cx="418795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概念关联与词义导航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" y="3383280"/>
            <a:ext cx="2766060" cy="644652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11296"/>
            <a:ext cx="2478024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1">
                <a:solidFill>
                  <a:srgbClr val="14353C"/>
                </a:solidFill>
                <a:latin typeface="Noto Sans CJK SC"/>
                <a:ea typeface="Noto Sans CJK SC"/>
              </a:rPr>
              <a:t>FrameNet [6]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74136" y="3383280"/>
            <a:ext cx="3707891" cy="644652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3511296"/>
            <a:ext cx="3419856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框架、框架元素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04888" y="3383280"/>
            <a:ext cx="4475988" cy="644652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51192" y="3511296"/>
            <a:ext cx="418795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语境与参与者结构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" y="4050791"/>
            <a:ext cx="276606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178807"/>
            <a:ext cx="2478024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1">
                <a:solidFill>
                  <a:srgbClr val="14353C"/>
                </a:solidFill>
                <a:latin typeface="Noto Sans CJK SC"/>
                <a:ea typeface="Noto Sans CJK SC"/>
              </a:rPr>
              <a:t>BabelNet [7]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74136" y="4050791"/>
            <a:ext cx="3707891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4178807"/>
            <a:ext cx="3419856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多语言词汇与百科连接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04888" y="4050791"/>
            <a:ext cx="4475988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51192" y="4178807"/>
            <a:ext cx="418795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跨语言、跨资源覆盖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" y="4718304"/>
            <a:ext cx="2766060" cy="644652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846320"/>
            <a:ext cx="2478024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1">
                <a:solidFill>
                  <a:srgbClr val="14353C"/>
                </a:solidFill>
                <a:latin typeface="Noto Sans CJK SC"/>
                <a:ea typeface="Noto Sans CJK SC"/>
              </a:rPr>
              <a:t>HowNet式资源 [8][9]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74136" y="4718304"/>
            <a:ext cx="3707891" cy="644652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20440" y="4846320"/>
            <a:ext cx="3419856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义原及其组合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04888" y="4718304"/>
            <a:ext cx="4475988" cy="644652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51192" y="4846320"/>
            <a:ext cx="418795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细粒度意义构成与表示学习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文献概述与综合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统一格式 ≠ 统一意义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编码、对齐、检索是三个相互连接但不能互相替代的问题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来源内部的记录先保留，跨来源的意义对应再判断。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§2.2／§4.1  [4] [10] [11] [22]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07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057400"/>
            <a:ext cx="11009376" cy="932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249424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</a:pPr>
            <a:r>
              <a:rPr sz="2700" b="1">
                <a:solidFill>
                  <a:srgbClr val="B07A3F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2258568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4353C"/>
                </a:solidFill>
                <a:latin typeface="Noto Sans CJK SC"/>
                <a:ea typeface="Noto Sans CJK SC"/>
              </a:rPr>
              <a:t>编码与互操作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286000"/>
            <a:ext cx="36850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1700" b="0">
                <a:solidFill>
                  <a:srgbClr val="176B62"/>
                </a:solidFill>
                <a:latin typeface="Noto Sans CJK SC"/>
                <a:ea typeface="Noto Sans CJK SC"/>
              </a:rPr>
              <a:t>TEI Lex-0／OntoLex-Lemon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76856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1700" b="0">
                <a:solidFill>
                  <a:srgbClr val="344C52"/>
                </a:solidFill>
                <a:latin typeface="Noto Sans CJK SC"/>
                <a:ea typeface="Noto Sans CJK SC"/>
              </a:rPr>
              <a:t>信息放在哪里，怎样交换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145536"/>
            <a:ext cx="11009376" cy="932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3375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</a:pPr>
            <a:r>
              <a:rPr sz="2700" b="1">
                <a:solidFill>
                  <a:srgbClr val="B07A3F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3346704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4353C"/>
                </a:solidFill>
                <a:latin typeface="Noto Sans CJK SC"/>
                <a:ea typeface="Noto Sans CJK SC"/>
              </a:rPr>
              <a:t>义项对齐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374136"/>
            <a:ext cx="36850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1700" b="0">
                <a:solidFill>
                  <a:srgbClr val="176B62"/>
                </a:solidFill>
                <a:latin typeface="Noto Sans CJK SC"/>
                <a:ea typeface="Noto Sans CJK SC"/>
              </a:rPr>
              <a:t>MWSA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364991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1700" b="0">
                <a:solidFill>
                  <a:srgbClr val="344C52"/>
                </a:solidFill>
                <a:latin typeface="Noto Sans CJK SC"/>
                <a:ea typeface="Noto Sans CJK SC"/>
              </a:rPr>
              <a:t>两个来源的意义是什么关系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233672"/>
            <a:ext cx="11009376" cy="932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42569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</a:pPr>
            <a:r>
              <a:rPr sz="2700" b="1">
                <a:solidFill>
                  <a:srgbClr val="B07A3F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4434840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4353C"/>
                </a:solidFill>
                <a:latin typeface="Noto Sans CJK SC"/>
                <a:ea typeface="Noto Sans CJK SC"/>
              </a:rPr>
              <a:t>任务检索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462272"/>
            <a:ext cx="36850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1700" b="0">
                <a:solidFill>
                  <a:srgbClr val="176B62"/>
                </a:solidFill>
                <a:latin typeface="Noto Sans CJK SC"/>
                <a:ea typeface="Noto Sans CJK SC"/>
              </a:rPr>
              <a:t>词形线索／语义召回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45312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1700" b="0">
                <a:solidFill>
                  <a:srgbClr val="344C52"/>
                </a:solidFill>
                <a:latin typeface="Noto Sans CJK SC"/>
                <a:ea typeface="Noto Sans CJK SC"/>
              </a:rPr>
              <a:t>当前问题需要取哪些证据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文献概述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定义、例证、语境：不能混成同一种文本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不同材料承担不同证据责任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生成例句需要标明生成身份，不能伪装为辞书原有书证。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§2.3  [12] [13] [18] [19]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08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概括词义与适用条件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用于解释、比较和辨析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8160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8160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8472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8472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例证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8472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展示实际或编纂选定的用法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真实语料选例 ≠ 模型新造例句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80248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80248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0560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0560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语境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560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约束某次使用的具体意义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同词形不保证同义项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文献概述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大语言模型与辞书：两种作用方向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“用模型做辞书”与“用辞书帮助模型”必须分开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候选产出能力与可信知识利用，是两类评价目标。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§3.1—§3.2  [2] [3] [14] [15] [18] [19]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09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084831"/>
            <a:ext cx="5367528" cy="3273552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350008"/>
            <a:ext cx="482803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14353C"/>
                </a:solidFill>
                <a:latin typeface="Noto Sans CJK SC"/>
                <a:ea typeface="Noto Sans CJK SC"/>
              </a:rPr>
              <a:t>模型辅助编纂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0392" y="2999232"/>
            <a:ext cx="4818888" cy="0"/>
          </a:xfrm>
          <a:prstGeom prst="line">
            <a:avLst/>
          </a:prstGeom>
          <a:ln w="19050">
            <a:solidFill>
              <a:srgbClr val="B07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0392" y="3255264"/>
            <a:ext cx="480974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44C52"/>
                </a:solidFill>
                <a:latin typeface="Noto Sans CJK SC"/>
                <a:ea typeface="Noto Sans CJK SC"/>
              </a:rPr>
              <a:t>释义和例句候选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44C52"/>
                </a:solidFill>
                <a:latin typeface="Noto Sans CJK SC"/>
                <a:ea typeface="Noto Sans CJK SC"/>
              </a:rPr>
              <a:t>逆向词典与词语发现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44C52"/>
                </a:solidFill>
                <a:latin typeface="Noto Sans CJK SC"/>
                <a:ea typeface="Noto Sans CJK SC"/>
              </a:rPr>
              <a:t>编纂者进行核验与修订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882896"/>
            <a:ext cx="48097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76B62"/>
                </a:solidFill>
                <a:latin typeface="Noto Sans CJK SC"/>
                <a:ea typeface="Noto Sans CJK SC"/>
              </a:rPr>
              <a:t>模型 → 辞书候选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2084831"/>
            <a:ext cx="5367528" cy="3273552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2350008"/>
            <a:ext cx="482803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14353C"/>
                </a:solidFill>
                <a:latin typeface="Noto Sans CJK SC"/>
                <a:ea typeface="Noto Sans CJK SC"/>
              </a:rPr>
              <a:t>辞书增强回答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01384" y="2999232"/>
            <a:ext cx="4818888" cy="0"/>
          </a:xfrm>
          <a:prstGeom prst="line">
            <a:avLst/>
          </a:prstGeom>
          <a:ln w="19050">
            <a:solidFill>
              <a:srgbClr val="B07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01384" y="3255264"/>
            <a:ext cx="480974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44C52"/>
                </a:solidFill>
                <a:latin typeface="Noto Sans CJK SC"/>
                <a:ea typeface="Noto Sans CJK SC"/>
              </a:rPr>
              <a:t>检索词条、定义与例证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44C52"/>
                </a:solidFill>
                <a:latin typeface="Noto Sans CJK SC"/>
                <a:ea typeface="Noto Sans CJK SC"/>
              </a:rPr>
              <a:t>组织面向问题的解释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44C52"/>
                </a:solidFill>
                <a:latin typeface="Noto Sans CJK SC"/>
                <a:ea typeface="Noto Sans CJK SC"/>
              </a:rPr>
              <a:t>答案保留证据与来源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4882896"/>
            <a:ext cx="48097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76B62"/>
                </a:solidFill>
                <a:latin typeface="Noto Sans CJK SC"/>
                <a:ea typeface="Noto Sans CJK SC"/>
              </a:rPr>
              <a:t>辞书证据 → 模型回答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文献概述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质量转向：从“像一句话”到“解释得恰当”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释义粒度与教学适用性，比单纯流畅度更重要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强模型已有能力；真正的问题是它如何处理细微差异与明确证据。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§3.1—§3.3  [16] [17] [18] [19] [20]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10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084831"/>
            <a:ext cx="5367528" cy="3273552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350008"/>
            <a:ext cx="482803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14353C"/>
                </a:solidFill>
                <a:latin typeface="Noto Sans CJK SC"/>
                <a:ea typeface="Noto Sans CJK SC"/>
              </a:rPr>
              <a:t>释义生成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0392" y="2999232"/>
            <a:ext cx="4818888" cy="0"/>
          </a:xfrm>
          <a:prstGeom prst="line">
            <a:avLst/>
          </a:prstGeom>
          <a:ln w="19050">
            <a:solidFill>
              <a:srgbClr val="B07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0392" y="3255264"/>
            <a:ext cx="480974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44C52"/>
                </a:solidFill>
                <a:latin typeface="Noto Sans CJK SC"/>
                <a:ea typeface="Noto Sans CJK SC"/>
              </a:rPr>
              <a:t>具体性适当 [16]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44C52"/>
                </a:solidFill>
                <a:latin typeface="Noto Sans CJK SC"/>
                <a:ea typeface="Noto Sans CJK SC"/>
              </a:rPr>
              <a:t>避免过宽、过窄或无依据细节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44C52"/>
                </a:solidFill>
                <a:latin typeface="Noto Sans CJK SC"/>
                <a:ea typeface="Noto Sans CJK SC"/>
              </a:rPr>
              <a:t>定义也可用于语义变化分析 [17]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2084831"/>
            <a:ext cx="5367528" cy="3273552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350008"/>
            <a:ext cx="482803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14353C"/>
                </a:solidFill>
                <a:latin typeface="Noto Sans CJK SC"/>
                <a:ea typeface="Noto Sans CJK SC"/>
              </a:rPr>
              <a:t>例句生成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01384" y="2999232"/>
            <a:ext cx="4818888" cy="0"/>
          </a:xfrm>
          <a:prstGeom prst="line">
            <a:avLst/>
          </a:prstGeom>
          <a:ln w="19050">
            <a:solidFill>
              <a:srgbClr val="B07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01384" y="3255264"/>
            <a:ext cx="480974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44C52"/>
                </a:solidFill>
                <a:latin typeface="Noto Sans CJK SC"/>
                <a:ea typeface="Noto Sans CJK SC"/>
              </a:rPr>
              <a:t>规范性／语境独立性／典型度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44C52"/>
                </a:solidFill>
                <a:latin typeface="Noto Sans CJK SC"/>
                <a:ea typeface="Noto Sans CJK SC"/>
              </a:rPr>
              <a:t>词汇适切性／句法复杂度 [19]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44C52"/>
                </a:solidFill>
                <a:latin typeface="Noto Sans CJK SC"/>
                <a:ea typeface="Noto Sans CJK SC"/>
              </a:rPr>
              <a:t>自动评价支持候选筛选 [18]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技术分工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结构知识进入模型，至少有三种位置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“语义增强”不是一个可以忽略训练条件的统一标签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SememeLRM支持特定关系预测机制，不是辞书RAG生成质量的直接证据。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§3.3  [3] [9] [21] [23] [26]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11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2048256"/>
            <a:ext cx="2766060" cy="811530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76272"/>
            <a:ext cx="2478024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74136" y="2048256"/>
            <a:ext cx="3707891" cy="811530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176272"/>
            <a:ext cx="3419856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作用方式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04888" y="2048256"/>
            <a:ext cx="4475988" cy="811530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1192" y="2176272"/>
            <a:ext cx="4187952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阅读论文时要问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2882646"/>
            <a:ext cx="2766060" cy="811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10662"/>
            <a:ext cx="2478024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1">
                <a:solidFill>
                  <a:srgbClr val="14353C"/>
                </a:solidFill>
                <a:latin typeface="Noto Sans CJK SC"/>
                <a:ea typeface="Noto Sans CJK SC"/>
              </a:rPr>
              <a:t>训练时融合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74136" y="2882646"/>
            <a:ext cx="3707891" cy="811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010662"/>
            <a:ext cx="3419856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结构编码与模型表示共同学习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4888" y="2882646"/>
            <a:ext cx="4475988" cy="811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51192" y="3010662"/>
            <a:ext cx="4187952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是否训练了编码器或分类器？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" y="3717036"/>
            <a:ext cx="2766060" cy="811530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845052"/>
            <a:ext cx="2478024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1">
                <a:solidFill>
                  <a:srgbClr val="14353C"/>
                </a:solidFill>
                <a:latin typeface="Noto Sans CJK SC"/>
                <a:ea typeface="Noto Sans CJK SC"/>
              </a:rPr>
              <a:t>检索时使用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74136" y="3717036"/>
            <a:ext cx="3707891" cy="811530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3845052"/>
            <a:ext cx="3419856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结构帮助召回、选择或关联证据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04888" y="3717036"/>
            <a:ext cx="4475988" cy="811530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51192" y="3845052"/>
            <a:ext cx="4187952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检索了什么单位、哪些来源？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" y="4551426"/>
            <a:ext cx="2766060" cy="811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679442"/>
            <a:ext cx="2478024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1">
                <a:solidFill>
                  <a:srgbClr val="14353C"/>
                </a:solidFill>
                <a:latin typeface="Noto Sans CJK SC"/>
                <a:ea typeface="Noto Sans CJK SC"/>
              </a:rPr>
              <a:t>提示上下文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74136" y="4551426"/>
            <a:ext cx="3707891" cy="811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4679442"/>
            <a:ext cx="3419856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将外部知识序列化供模型读取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04888" y="4551426"/>
            <a:ext cx="4475988" cy="811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51192" y="4679442"/>
            <a:ext cx="4187952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信息预算与比较条件是否公平？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技术链条示意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RAG的关键链条：取证、组织、生成、回查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下图是根据初稿整理的通用示意，不是某篇论文的原图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回答的流畅度、证据的相关性与引用的支持性需要分别检查。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§4.1／§6.1  [3] [22] [31] [32]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12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587752"/>
            <a:ext cx="2002536" cy="1956816"/>
          </a:xfrm>
          <a:prstGeom prst="rect">
            <a:avLst/>
          </a:prstGeom>
          <a:solidFill>
            <a:srgbClr val="176B62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76148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B07A3F"/>
                </a:solidFill>
                <a:latin typeface="Noto Sans CJK SC"/>
                <a:ea typeface="Noto Sans CJK S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346704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用户问题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13632"/>
            <a:ext cx="16916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4"/>
              </a:spcAft>
            </a:pPr>
            <a:r>
              <a:rPr sz="1420" b="0">
                <a:solidFill>
                  <a:srgbClr val="FFFFFF"/>
                </a:solidFill>
                <a:latin typeface="Noto Sans CJK SC"/>
                <a:ea typeface="Noto Sans CJK SC"/>
              </a:rPr>
              <a:t>词义／语境／任务意图</a:t>
            </a:r>
          </a:p>
        </p:txBody>
      </p:sp>
      <p:sp>
        <p:nvSpPr>
          <p:cNvPr id="16" name="Chevron 15"/>
          <p:cNvSpPr/>
          <p:nvPr/>
        </p:nvSpPr>
        <p:spPr>
          <a:xfrm>
            <a:off x="2642616" y="3346704"/>
            <a:ext cx="137160" cy="301752"/>
          </a:xfrm>
          <a:prstGeom prst="chevron">
            <a:avLst/>
          </a:prstGeom>
          <a:solidFill>
            <a:srgbClr val="B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43784" y="2587752"/>
            <a:ext cx="2002536" cy="1956816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8376" y="276148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B07A3F"/>
                </a:solidFill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3346704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</a:pPr>
            <a:r>
              <a:rPr sz="2100" b="1">
                <a:solidFill>
                  <a:srgbClr val="14353C"/>
                </a:solidFill>
                <a:latin typeface="Noto Sans CJK SC"/>
                <a:ea typeface="Noto Sans CJK SC"/>
              </a:rPr>
              <a:t>证据检索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3913632"/>
            <a:ext cx="16916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4"/>
              </a:spcAft>
            </a:pPr>
            <a:r>
              <a:rPr sz="1420" b="0">
                <a:solidFill>
                  <a:srgbClr val="344C52"/>
                </a:solidFill>
                <a:latin typeface="Noto Sans CJK SC"/>
                <a:ea typeface="Noto Sans CJK SC"/>
              </a:rPr>
              <a:t>词条、义项、定义、例证</a:t>
            </a:r>
          </a:p>
        </p:txBody>
      </p:sp>
      <p:sp>
        <p:nvSpPr>
          <p:cNvPr id="21" name="Chevron 20"/>
          <p:cNvSpPr/>
          <p:nvPr/>
        </p:nvSpPr>
        <p:spPr>
          <a:xfrm>
            <a:off x="4892040" y="3346704"/>
            <a:ext cx="137160" cy="301752"/>
          </a:xfrm>
          <a:prstGeom prst="chevron">
            <a:avLst/>
          </a:prstGeom>
          <a:solidFill>
            <a:srgbClr val="B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93208" y="2587752"/>
            <a:ext cx="2002536" cy="1956816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276148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B07A3F"/>
                </a:solidFill>
                <a:latin typeface="Noto Sans CJK SC"/>
                <a:ea typeface="Noto Sans CJK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6" y="3346704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</a:pPr>
            <a:r>
              <a:rPr sz="2100" b="1">
                <a:solidFill>
                  <a:srgbClr val="14353C"/>
                </a:solidFill>
                <a:latin typeface="Noto Sans CJK SC"/>
                <a:ea typeface="Noto Sans CJK SC"/>
              </a:rPr>
              <a:t>选择与组织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6" y="3913632"/>
            <a:ext cx="16916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4"/>
              </a:spcAft>
            </a:pPr>
            <a:r>
              <a:rPr sz="1420" b="0">
                <a:solidFill>
                  <a:srgbClr val="344C52"/>
                </a:solidFill>
                <a:latin typeface="Noto Sans CJK SC"/>
                <a:ea typeface="Noto Sans CJK SC"/>
              </a:rPr>
              <a:t>相关性、粒度、来源</a:t>
            </a:r>
          </a:p>
        </p:txBody>
      </p:sp>
      <p:sp>
        <p:nvSpPr>
          <p:cNvPr id="26" name="Chevron 25"/>
          <p:cNvSpPr/>
          <p:nvPr/>
        </p:nvSpPr>
        <p:spPr>
          <a:xfrm>
            <a:off x="7141464" y="3346704"/>
            <a:ext cx="137160" cy="301752"/>
          </a:xfrm>
          <a:prstGeom prst="chevron">
            <a:avLst/>
          </a:prstGeom>
          <a:solidFill>
            <a:srgbClr val="B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2631" y="2587752"/>
            <a:ext cx="2002536" cy="1956816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07223" y="276148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B07A3F"/>
                </a:solidFill>
                <a:latin typeface="Noto Sans CJK SC"/>
                <a:ea typeface="Noto Sans CJK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346704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</a:pPr>
            <a:r>
              <a:rPr sz="2100" b="1">
                <a:solidFill>
                  <a:srgbClr val="14353C"/>
                </a:solidFill>
                <a:latin typeface="Noto Sans CJK SC"/>
                <a:ea typeface="Noto Sans CJK SC"/>
              </a:rPr>
              <a:t>答案生成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913632"/>
            <a:ext cx="16916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4"/>
              </a:spcAft>
            </a:pPr>
            <a:r>
              <a:rPr sz="1420" b="0">
                <a:solidFill>
                  <a:srgbClr val="344C52"/>
                </a:solidFill>
                <a:latin typeface="Noto Sans CJK SC"/>
                <a:ea typeface="Noto Sans CJK SC"/>
              </a:rPr>
              <a:t>解释、辨析、应用</a:t>
            </a:r>
          </a:p>
        </p:txBody>
      </p:sp>
      <p:sp>
        <p:nvSpPr>
          <p:cNvPr id="31" name="Chevron 30"/>
          <p:cNvSpPr/>
          <p:nvPr/>
        </p:nvSpPr>
        <p:spPr>
          <a:xfrm>
            <a:off x="9390888" y="3346704"/>
            <a:ext cx="137160" cy="301752"/>
          </a:xfrm>
          <a:prstGeom prst="chevron">
            <a:avLst/>
          </a:prstGeom>
          <a:solidFill>
            <a:srgbClr val="B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587752"/>
            <a:ext cx="2002536" cy="1956816"/>
          </a:xfrm>
          <a:prstGeom prst="rect">
            <a:avLst/>
          </a:prstGeom>
          <a:solidFill>
            <a:srgbClr val="176B62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56648" y="276148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B07A3F"/>
                </a:solidFill>
                <a:latin typeface="Noto Sans CJK SC"/>
                <a:ea typeface="Noto Sans CJK SC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47504" y="3346704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证据回查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4" y="3913632"/>
            <a:ext cx="16916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4"/>
              </a:spcAft>
            </a:pPr>
            <a:r>
              <a:rPr sz="1420" b="0">
                <a:solidFill>
                  <a:srgbClr val="FFFFFF"/>
                </a:solidFill>
                <a:latin typeface="Noto Sans CJK SC"/>
                <a:ea typeface="Noto Sans CJK SC"/>
              </a:rPr>
              <a:t>对应断言与引用依据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001768"/>
            <a:ext cx="98023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80"/>
              </a:spcAft>
            </a:pPr>
            <a:r>
              <a:rPr sz="1900" b="1">
                <a:solidFill>
                  <a:srgbClr val="176B62"/>
                </a:solidFill>
                <a:latin typeface="Noto Sans CJK SC"/>
                <a:ea typeface="Noto Sans CJK SC"/>
              </a:rPr>
              <a:t>检索结果需要义项与来源判断；生成结果需要证据回查。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本文综合建议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检索粒度应由问题决定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同一份完整来源，可以派生不同的任务输入视图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综合建议：精确线索 → 语义候选召回 → 义项级重排。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§4.1  [4] [13] [22]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13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2048256"/>
            <a:ext cx="2766060" cy="6446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76272"/>
            <a:ext cx="2478024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检索单位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74136" y="2048256"/>
            <a:ext cx="3707891" cy="6446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176272"/>
            <a:ext cx="3419856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适合保留的信息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04888" y="2048256"/>
            <a:ext cx="4475988" cy="6446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1192" y="2176272"/>
            <a:ext cx="418795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主要风险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2715768"/>
            <a:ext cx="276606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843784"/>
            <a:ext cx="2478024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1">
                <a:solidFill>
                  <a:srgbClr val="14353C"/>
                </a:solidFill>
                <a:latin typeface="Noto Sans CJK SC"/>
                <a:ea typeface="Noto Sans CJK SC"/>
              </a:rPr>
              <a:t>整条词目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74136" y="2715768"/>
            <a:ext cx="3707891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2843784"/>
            <a:ext cx="3419856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多义整体、历时变化及原文回查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4888" y="2715768"/>
            <a:ext cx="4475988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51192" y="2843784"/>
            <a:ext cx="418795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兄弟义项过多，容易混并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" y="3383280"/>
            <a:ext cx="2766060" cy="644652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11296"/>
            <a:ext cx="2478024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1">
                <a:solidFill>
                  <a:srgbClr val="14353C"/>
                </a:solidFill>
                <a:latin typeface="Noto Sans CJK SC"/>
                <a:ea typeface="Noto Sans CJK SC"/>
              </a:rPr>
              <a:t>单个义项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74136" y="3383280"/>
            <a:ext cx="3707891" cy="644652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3511296"/>
            <a:ext cx="3419856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面向具体意义的解释与辨析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04888" y="3383280"/>
            <a:ext cx="4475988" cy="644652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51192" y="3511296"/>
            <a:ext cx="418795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可能漏掉关联用法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" y="4050791"/>
            <a:ext cx="276606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178807"/>
            <a:ext cx="2478024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1">
                <a:solidFill>
                  <a:srgbClr val="14353C"/>
                </a:solidFill>
                <a:latin typeface="Noto Sans CJK SC"/>
                <a:ea typeface="Noto Sans CJK SC"/>
              </a:rPr>
              <a:t>定义片段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74136" y="4050791"/>
            <a:ext cx="3707891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4178807"/>
            <a:ext cx="3419856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定位一个限定或区别点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04888" y="4050791"/>
            <a:ext cx="4475988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51192" y="4178807"/>
            <a:ext cx="418795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片段脱离上下文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" y="4718304"/>
            <a:ext cx="2766060" cy="644652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846320"/>
            <a:ext cx="2478024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1">
                <a:solidFill>
                  <a:srgbClr val="14353C"/>
                </a:solidFill>
                <a:latin typeface="Noto Sans CJK SC"/>
                <a:ea typeface="Noto Sans CJK SC"/>
              </a:rPr>
              <a:t>例证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74136" y="4718304"/>
            <a:ext cx="3707891" cy="644652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20440" y="4846320"/>
            <a:ext cx="3419856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实际使用与语境说明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04888" y="4718304"/>
            <a:ext cx="4475988" cy="644652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51192" y="4846320"/>
            <a:ext cx="418795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例证错配或不足以代表该义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文献概述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按需检索：控制“何时查、是否再查”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三种方法都强调适应性，但控制机制和训练位置不同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辞书任务启发：以信息缺口决定下一次查询，而不是追求更多搜索步骤。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§4.2  [23] [24] [25]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14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IRCoT [23]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检索与中间推理交替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已有信息影响下一步查询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8160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8160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8472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8472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Self-RAG [24]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8472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学习反思标记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将检索需求和输出评价纳入生成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80248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80248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0560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0560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Adaptive-RAG [25]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560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训练问题复杂度分类器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选择不同检索策略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文献概述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图结构RAG不是一种统一算法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图导航、全局摘要和关联检索，分别处理不同问题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图不是天然优于文本；消歧、抽取和维护成本也必须计入。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§4.3  [26] [27] [28]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15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2048256"/>
            <a:ext cx="2766060" cy="811530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76272"/>
            <a:ext cx="2478024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方法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74136" y="2048256"/>
            <a:ext cx="3707891" cy="811530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176272"/>
            <a:ext cx="3419856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主要机制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04888" y="2048256"/>
            <a:ext cx="4475988" cy="811530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1192" y="2176272"/>
            <a:ext cx="4187952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本文采用的证据边界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2882646"/>
            <a:ext cx="2766060" cy="811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10662"/>
            <a:ext cx="2478024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1">
                <a:solidFill>
                  <a:srgbClr val="14353C"/>
                </a:solidFill>
                <a:latin typeface="Noto Sans CJK SC"/>
                <a:ea typeface="Noto Sans CJK SC"/>
              </a:rPr>
              <a:t>Think-on-Graph [26]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74136" y="2882646"/>
            <a:ext cx="3707891" cy="811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010662"/>
            <a:ext cx="3419856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探索实体与关系路径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4888" y="2882646"/>
            <a:ext cx="4475988" cy="811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51192" y="3010662"/>
            <a:ext cx="4187952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知识图谱推理机制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" y="3717036"/>
            <a:ext cx="2766060" cy="811530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845052"/>
            <a:ext cx="2478024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1">
                <a:solidFill>
                  <a:srgbClr val="14353C"/>
                </a:solidFill>
                <a:latin typeface="Noto Sans CJK SC"/>
                <a:ea typeface="Noto Sans CJK SC"/>
              </a:rPr>
              <a:t>GraphRAG [27]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74136" y="3717036"/>
            <a:ext cx="3707891" cy="811530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3845052"/>
            <a:ext cx="3419856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实体图与社区摘要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04888" y="3717036"/>
            <a:ext cx="4475988" cy="811530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51192" y="3845052"/>
            <a:ext cx="4187952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面向语料整体的综合问题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" y="4551426"/>
            <a:ext cx="2766060" cy="811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679442"/>
            <a:ext cx="2478024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1">
                <a:solidFill>
                  <a:srgbClr val="14353C"/>
                </a:solidFill>
                <a:latin typeface="Noto Sans CJK SC"/>
                <a:ea typeface="Noto Sans CJK SC"/>
              </a:rPr>
              <a:t>HippoRAG [28]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74136" y="4551426"/>
            <a:ext cx="3707891" cy="811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4679442"/>
            <a:ext cx="3419856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图结构＋个性化PageRank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04888" y="4551426"/>
            <a:ext cx="4475988" cy="811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51192" y="4679442"/>
            <a:ext cx="4187952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关联证据检索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直接应用证据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直接案例一：低资源语言翻译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Mambai研究｜EURALI / LREC-COLING 2024 [29]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可行性不依赖庞大图谱；效果必须限定到具体语言与实验条件。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§5.1  [29]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16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英语 → Mambai语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低资源机器翻译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8160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8160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8472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8472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接入方式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8472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检索平行句＋相应辞书条目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共同进入LLM提示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80248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80248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0560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0560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证据边界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560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支持该语种与受测设置中的作用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不能推广为所有中文词义任务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直接应用／预印本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直接案例二：历史语言理解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多哈阿拉伯语历史辞书RAG｜2026年预印本 [30]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值得借鉴的是“时间与意图参与检索”，而不是直接迁移某个实验得分。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§5.2  [30]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17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历史阿拉伯语文本理解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词义需要匹配时间与查询意图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8160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8160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8472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8472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接入方式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8472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混合检索、重排、意图路由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包含训练组件与人工核验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80248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80248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0560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0560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证据边界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560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截至原清单检索日按预印本引用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仍需不同体裁与独立用户评价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综合判断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已有证据支持什么，又没有支持什么？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综述需要连接研究，也需要保留推论的边界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既不能说“尚无前人”，也不能说“辞书RAG已经全面成熟”。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§5.3  [21] [23] [24] [25] [26] [27] [28] [29] [30]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18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2048256"/>
            <a:ext cx="2766060" cy="811530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76272"/>
            <a:ext cx="2478024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证据类型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74136" y="2048256"/>
            <a:ext cx="3707891" cy="811530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176272"/>
            <a:ext cx="3419856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支持的判断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04888" y="2048256"/>
            <a:ext cx="4475988" cy="811530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1192" y="2176272"/>
            <a:ext cx="4187952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不能直接推出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2882646"/>
            <a:ext cx="2766060" cy="811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10662"/>
            <a:ext cx="2478024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1">
                <a:solidFill>
                  <a:srgbClr val="14353C"/>
                </a:solidFill>
                <a:latin typeface="Noto Sans CJK SC"/>
                <a:ea typeface="Noto Sans CJK SC"/>
              </a:rPr>
              <a:t>直接辞书应用 [29][30]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74136" y="2882646"/>
            <a:ext cx="3707891" cy="811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010662"/>
            <a:ext cx="3419856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特定任务中的辞书接入可行性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4888" y="2882646"/>
            <a:ext cx="4475988" cy="811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51192" y="3010662"/>
            <a:ext cx="4187952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跨语种、跨来源普遍有效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" y="3717036"/>
            <a:ext cx="2766060" cy="811530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845052"/>
            <a:ext cx="2478024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1">
                <a:solidFill>
                  <a:srgbClr val="14353C"/>
                </a:solidFill>
                <a:latin typeface="Noto Sans CJK SC"/>
                <a:ea typeface="Noto Sans CJK SC"/>
              </a:rPr>
              <a:t>结构知识预测 [21]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74136" y="3717036"/>
            <a:ext cx="3707891" cy="811530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3845052"/>
            <a:ext cx="3419856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特定训练方案下的关系建模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04888" y="3717036"/>
            <a:ext cx="4475988" cy="811530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51192" y="3845052"/>
            <a:ext cx="4187952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同样结构提示LLM必然增益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" y="4551426"/>
            <a:ext cx="2766060" cy="811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679442"/>
            <a:ext cx="2478024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1">
                <a:solidFill>
                  <a:srgbClr val="14353C"/>
                </a:solidFill>
                <a:latin typeface="Noto Sans CJK SC"/>
                <a:ea typeface="Noto Sans CJK SC"/>
              </a:rPr>
              <a:t>通用RAG机制 [23]—[28]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74136" y="4551426"/>
            <a:ext cx="3707891" cy="811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4679442"/>
            <a:ext cx="3419856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检索控制和证据组织机制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04888" y="4551426"/>
            <a:ext cx="4475988" cy="8115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51192" y="4679442"/>
            <a:ext cx="4187952" cy="68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10"/>
              </a:spcAft>
            </a:pPr>
            <a:r>
              <a:rPr sz="1550" b="0">
                <a:solidFill>
                  <a:srgbClr val="344C52"/>
                </a:solidFill>
                <a:latin typeface="Noto Sans CJK SC"/>
                <a:ea typeface="Noto Sans CJK SC"/>
              </a:rPr>
              <a:t>中文辞书系统已完成验证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评价框架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评价需要分层，不能只看答案是否流畅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ALCE、RAGAs提供工具；辞书质量仍需专门判断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辞书特有错误：义项混并、范围变化、语体误用、例证错配、无依据补充。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§6.1／§7.4  [16] [19] [31] [32] [35]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19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011680"/>
            <a:ext cx="11009376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176272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76B62"/>
                </a:solidFill>
                <a:latin typeface="Noto Sans CJK SC"/>
                <a:ea typeface="Noto Sans CJK SC"/>
              </a:rPr>
              <a:t>检索层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185416"/>
            <a:ext cx="376732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1700" b="0">
                <a:solidFill>
                  <a:srgbClr val="344C52"/>
                </a:solidFill>
                <a:latin typeface="Noto Sans CJK SC"/>
                <a:ea typeface="Noto Sans CJK SC"/>
              </a:rPr>
              <a:t>相关义项／充分证据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185416"/>
            <a:ext cx="463600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1700" b="0">
                <a:solidFill>
                  <a:srgbClr val="14353C"/>
                </a:solidFill>
                <a:latin typeface="Noto Sans CJK SC"/>
                <a:ea typeface="Noto Sans CJK SC"/>
              </a:rPr>
              <a:t>有没有取到回答所需材料？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862072"/>
            <a:ext cx="11009376" cy="731520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026664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76B62"/>
                </a:solidFill>
                <a:latin typeface="Noto Sans CJK SC"/>
                <a:ea typeface="Noto Sans CJK SC"/>
              </a:rPr>
              <a:t>生成层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035808"/>
            <a:ext cx="376732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1700" b="0">
                <a:solidFill>
                  <a:srgbClr val="344C52"/>
                </a:solidFill>
                <a:latin typeface="Noto Sans CJK SC"/>
                <a:ea typeface="Noto Sans CJK SC"/>
              </a:rPr>
              <a:t>意义正确／粒度合适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3035808"/>
            <a:ext cx="463600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1700" b="0">
                <a:solidFill>
                  <a:srgbClr val="14353C"/>
                </a:solidFill>
                <a:latin typeface="Noto Sans CJK SC"/>
                <a:ea typeface="Noto Sans CJK SC"/>
              </a:rPr>
              <a:t>是否混并义项或扩大范围？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712464"/>
            <a:ext cx="11009376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877056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76B62"/>
                </a:solidFill>
                <a:latin typeface="Noto Sans CJK SC"/>
                <a:ea typeface="Noto Sans CJK SC"/>
              </a:rPr>
              <a:t>溯源层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886200"/>
            <a:ext cx="376732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1700" b="0">
                <a:solidFill>
                  <a:srgbClr val="344C52"/>
                </a:solidFill>
                <a:latin typeface="Noto Sans CJK SC"/>
                <a:ea typeface="Noto Sans CJK SC"/>
              </a:rPr>
              <a:t>断言—引文对应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886200"/>
            <a:ext cx="463600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1700" b="0">
                <a:solidFill>
                  <a:srgbClr val="14353C"/>
                </a:solidFill>
                <a:latin typeface="Noto Sans CJK SC"/>
                <a:ea typeface="Noto Sans CJK SC"/>
              </a:rPr>
              <a:t>引用是否真正支持该句话？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562856"/>
            <a:ext cx="11009376" cy="731520"/>
          </a:xfrm>
          <a:prstGeom prst="rect">
            <a:avLst/>
          </a:prstGeom>
          <a:solidFill>
            <a:srgbClr val="E7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727448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76B62"/>
                </a:solidFill>
                <a:latin typeface="Noto Sans CJK SC"/>
                <a:ea typeface="Noto Sans CJK SC"/>
              </a:rPr>
              <a:t>应用层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736592"/>
            <a:ext cx="376732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1700" b="0">
                <a:solidFill>
                  <a:srgbClr val="344C52"/>
                </a:solidFill>
                <a:latin typeface="Noto Sans CJK SC"/>
                <a:ea typeface="Noto Sans CJK SC"/>
              </a:rPr>
              <a:t>用户需求／时延／成本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4736592"/>
            <a:ext cx="463600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1700" b="0">
                <a:solidFill>
                  <a:srgbClr val="14353C"/>
                </a:solidFill>
                <a:latin typeface="Noto Sans CJK SC"/>
                <a:ea typeface="Noto Sans CJK SC"/>
              </a:rPr>
              <a:t>解释是否适用且可维护？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文献启发的诊断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真正利用了证据，还是依靠模型猜对？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更长上下文和更多图路径，都不是可靠性的直接证明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图路径长度 ≠ 推理步数；有引用 ≠ 真正依赖对应证据。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§6.2—§6.3  [33] [34] [35]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20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改变证据位置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检查长上下文的信息利用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与排序敏感性 [33]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8160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8160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8472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8472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移除关键支持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8472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检查判断是否需要这些证据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避免假多跳和捷径 [34]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80248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80248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0560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0560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替换同词异义材料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560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检查是否选对了义项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而不只是选中了相同词形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研究管理建议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数据治理：来源、版本与使用条件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清洗机械错误，但不要“清洗掉”真实语义差异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互操作规范改善组织方式；它不自动解决数据错误、语义分歧或使用权限。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§6.3—§6.4  [4] [10] [11] [35]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21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来源忠实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保留原文、编号和定位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区分原生材料与生成内容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8160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8160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8472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8472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版本可复现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8472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保留转换记录和数据版本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警惕同底本、近重复与泄漏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80248" y="2148840"/>
            <a:ext cx="3541775" cy="3218688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80248" y="2148840"/>
            <a:ext cx="3541775" cy="5029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0560" y="23500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60"/>
              </a:spcAft>
            </a:pPr>
            <a:r>
              <a:rPr sz="2300" b="1">
                <a:solidFill>
                  <a:srgbClr val="B07A3F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0560" y="3008376"/>
            <a:ext cx="3121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4353C"/>
                </a:solidFill>
                <a:latin typeface="Noto Sans CJK SC"/>
                <a:ea typeface="Noto Sans CJK SC"/>
              </a:rPr>
              <a:t>使用边界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560" y="3776472"/>
            <a:ext cx="3121152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在线阅读、批量处理、再发布分开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逐来源核对条款，不预设豁免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本文综合建议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未来方向：可追溯的语义服务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每一个方向都需要“已有启发—尚缺证据—具体检验”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发展方向不是无限增加节点，而是让解释更可用、更可查、更可审计。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§7  [4] [11] [16] [18] [19] [24] [25] [26] [29] [30] [31] [32] [35]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22 /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5358384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49424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76B62"/>
                </a:solidFill>
                <a:latin typeface="Noto Sans CJK SC"/>
                <a:ea typeface="Noto Sans CJK SC"/>
              </a:rPr>
              <a:t>来源义项组织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07208"/>
            <a:ext cx="481888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保留编号与原文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呈现共识、互补和分歧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2029968"/>
            <a:ext cx="5358384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249424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76B62"/>
                </a:solidFill>
                <a:latin typeface="Noto Sans CJK SC"/>
                <a:ea typeface="Noto Sans CJK SC"/>
              </a:rPr>
              <a:t>轻量与按需检索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807208"/>
            <a:ext cx="481888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只取任务需要的结构与证据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同时评价准确性和成本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803904"/>
            <a:ext cx="5358384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76B62"/>
                </a:solidFill>
                <a:latin typeface="Noto Sans CJK SC"/>
                <a:ea typeface="Noto Sans CJK SC"/>
              </a:rPr>
              <a:t>生成—验证协同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81144"/>
            <a:ext cx="481888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候选生成、来源核验、人工修订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适配教学、写作和历史文本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5352" y="3803904"/>
            <a:ext cx="5358384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D5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40233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1">
                <a:solidFill>
                  <a:srgbClr val="176B62"/>
                </a:solidFill>
                <a:latin typeface="Noto Sans CJK SC"/>
                <a:ea typeface="Noto Sans CJK SC"/>
              </a:rPr>
              <a:t>可审计评价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581144"/>
            <a:ext cx="481888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跨语言、跨来源、真实查询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1800" b="0">
                <a:solidFill>
                  <a:srgbClr val="344C52"/>
                </a:solidFill>
                <a:latin typeface="Noto Sans CJK SC"/>
                <a:ea typeface="Noto Sans CJK SC"/>
              </a:rPr>
              <a:t>报告证据、版本与不确定性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结语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从“找到词条”到“可靠解释”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综述结论与讨论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05856"/>
            <a:ext cx="11055096" cy="530352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06440"/>
            <a:ext cx="10652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讨论：当多部辞书解释不一致时，什么样的回答才算“更可靠”？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§8  [3] [4] [29] [30] [31] [32]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23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94560"/>
            <a:ext cx="15087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500" b="1">
                <a:solidFill>
                  <a:srgbClr val="176B62"/>
                </a:solidFill>
                <a:latin typeface="Noto Sans CJK SC"/>
                <a:ea typeface="Noto Sans CJK SC"/>
              </a:rPr>
              <a:t>动因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240279"/>
            <a:ext cx="88879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0">
                <a:solidFill>
                  <a:srgbClr val="14353C"/>
                </a:solidFill>
                <a:latin typeface="Noto Sans CJK SC"/>
                <a:ea typeface="Noto Sans CJK SC"/>
              </a:rPr>
              <a:t>交互需求、义项差异与来源责任推动融合。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218688"/>
            <a:ext cx="15087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500" b="1">
                <a:solidFill>
                  <a:srgbClr val="176B62"/>
                </a:solidFill>
                <a:latin typeface="Noto Sans CJK SC"/>
                <a:ea typeface="Noto Sans CJK SC"/>
              </a:rPr>
              <a:t>技术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3264408"/>
            <a:ext cx="88879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0">
                <a:solidFill>
                  <a:srgbClr val="14353C"/>
                </a:solidFill>
                <a:latin typeface="Noto Sans CJK SC"/>
                <a:ea typeface="Noto Sans CJK SC"/>
              </a:rPr>
              <a:t>编码、语义、生成与检索分工协作，不能相互代替。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5087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500" b="1">
                <a:solidFill>
                  <a:srgbClr val="176B62"/>
                </a:solidFill>
                <a:latin typeface="Noto Sans CJK SC"/>
                <a:ea typeface="Noto Sans CJK SC"/>
              </a:rPr>
              <a:t>未来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9152" y="4288536"/>
            <a:ext cx="88879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200" b="0">
                <a:solidFill>
                  <a:srgbClr val="14353C"/>
                </a:solidFill>
                <a:latin typeface="Noto Sans CJK SC"/>
                <a:ea typeface="Noto Sans CJK SC"/>
              </a:rPr>
              <a:t>在具体任务中验证证据利用，而非用复杂度代替效果。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参考附录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参考文献（1/4）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编号与初稿一致；原始链接可点击。完整卷期、页码及阅读深度见文献清单。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参考文献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24 /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9659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196596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2"/>
              </a:rPr>
              <a:t>DE SCHRYVER G M. Lexicographers’ Dreams in the Electronic-Dictionary Age[J]  2003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241858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8" y="24460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244602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3"/>
              </a:rPr>
              <a:t>DE SCHRYVER G M. Generative AI and Lexicography: The Current State of the Art Using ChatGPT[J]  2023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289864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29260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292608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4"/>
              </a:rPr>
              <a:t>LEWIS P, PEREZ E, PIKTUS A, et al. Retrieval-Augmented Generation for Knowledge-Intensive NLP Tasks[C]  2020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" y="337870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2648" y="34061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340614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5"/>
              </a:rPr>
              <a:t>AHMADI S, MCCRAE J P, NIMB S, et al. A Multilingual Evaluation Dataset for Monolingual Word Sense Alignment[C]  2020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" y="385876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2648" y="3886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[5]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388620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6"/>
              </a:rPr>
              <a:t>MILLER G A. WordNet: A Lexical Database for English[J]  1995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2648" y="433882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2648" y="43662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[6]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" y="436626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7"/>
              </a:rPr>
              <a:t>BAKER C F, FILLMORE C J, LOWE J B. The Berkeley FrameNet Project[C]  1998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481888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8" y="48463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[7]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" y="484632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8"/>
              </a:rPr>
              <a:t>NAVIGLI R, PONZETTO S P. BabelNet: Building a Very Large Multilingual Semantic Network[C]  2010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2648" y="529894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12648" y="53263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[8]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" y="532638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9"/>
              </a:rPr>
              <a:t>QI F, YANG C, LIU Z, et al. OpenHowNet: An Open Sememe-based Lexical Knowledge Base[EB/OL]  2019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577900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2648" y="5806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[9]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" y="580644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10"/>
              </a:rPr>
              <a:t>于宁, 王江萍, 石宇, 等. 基于义原表示学习的词向量表示方法[C]  2021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12648" y="625906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参考附录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参考文献（2/4）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编号与初稿一致；原始链接可点击。完整卷期、页码及阅读深度见文献清单。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参考文献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25 /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9659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[10]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196596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2"/>
              </a:rPr>
              <a:t>TASOVAC T, ROMARY L, SALGADO A. TEI Lex-0: A baseline encoding for lexicographic data[R/OL]  2018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241858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8" y="24460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[11]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244602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3"/>
              </a:rPr>
              <a:t>CIMIANO P, MCCRAE J P, BUITELAAR P, eds. Lexicon Model for Ontologies: Community Report, 10 May 2016[R/OL]  2016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289864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29260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[12]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292608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4"/>
              </a:rPr>
              <a:t>KILGARRIFF A, HUSÁK M, MCADAM K, et al. GDEX: Automatically Finding Good Dictionary Examples in a Corpus[C]  2008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" y="337870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2648" y="34061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[13]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340614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5"/>
              </a:rPr>
              <a:t>PILEHVAR M T, CAMACHO-COLLADOS J. WiC: the Word-in-Context Dataset for Evaluating Context-Sensitive Meaning Representations[C]  2019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" y="385876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2648" y="3886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[14]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388620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6"/>
              </a:rPr>
              <a:t>NORASET T, LIANG C, BIRNBAUM L, et al. Definition Modeling: Learning to Define Word Embeddings in Natural Language[C]  2017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2648" y="433882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2648" y="43662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[15]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" y="436626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7"/>
              </a:rPr>
              <a:t>QI F, ZHANG L, YANG Y, et al. WantWords: An Open-source Online Reverse Dictionary System[C]  2020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481888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8" y="48463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[16]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" y="484632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8"/>
              </a:rPr>
              <a:t>HUANG H, KAJIWARA T, ARASE Y. Definition Modelling for Appropriate Specificity[C]  2021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2648" y="529894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12648" y="53263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[17]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" y="532638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9"/>
              </a:rPr>
              <a:t>GIULIANELLI M, LUDEN I, FERNÁNDEZ R, et al. Interpretable Word Sense Representations via Definition Generation: The Case of Semantic Change Analysis[C]  2023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577900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2648" y="5806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[18]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" y="580644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10"/>
              </a:rPr>
              <a:t>CAI B, CLARENCE N, LIANG D, et al. Low-Cost Generation and Evaluation of Dictionary Example Sentences[C]  2024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12648" y="625906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参考附录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参考文献（3/4）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编号与初稿一致；原始链接可点击。完整卷期、页码及阅读深度见文献清单。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参考文献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26 /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9659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[19]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196596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2"/>
              </a:rPr>
              <a:t>方明炜, 朱君辉, 鲁鹿鸣, 等. 例句质量评估体系构建及大语言模型例句生成能力评估[C]  2025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241858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8" y="24460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[20]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244602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3"/>
              </a:rPr>
              <a:t>MECONI D, STIRPE S, MARTELLI F, et al. Do Large Language Models Understand Word Senses?[C]  2025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289864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29260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[21]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292608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4"/>
              </a:rPr>
              <a:t>WANG H, LIANG Q, WANG Y, et al. Enhancing Lexical Relation Mining with Structured Sememe Knowledge[C]  2026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" y="337870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2648" y="34061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[22]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340614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5"/>
              </a:rPr>
              <a:t>KARPUKHIN V, OGUZ B, MIN S, et al. Dense Passage Retrieval for Open-Domain Question Answering[C]  2020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" y="385876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2648" y="3886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[23]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388620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6"/>
              </a:rPr>
              <a:t>TRIVEDI H, BALASUBRAMANIAN N, KHOT T, et al. Interleaving Retrieval with Chain-of-Thought Reasoning for Knowledge-Intensive Multi-Step Questions[C]  2023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2648" y="433882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2648" y="43662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[24]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" y="436626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7"/>
              </a:rPr>
              <a:t>ASAI A, WU Z, WANG Y, et al. Self-RAG: Learning to Retrieve, Generate, and Critique through Self-Reflection[C]  2024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481888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8" y="48463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[25]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" y="484632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8"/>
              </a:rPr>
              <a:t>JEONG S, BAEK J, CHO S, et al. Adaptive-RAG: Learning to Adapt Retrieval-Augmented Large Language Models through Question Complexity[C]  2024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2648" y="529894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12648" y="53263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[26]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" y="532638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9"/>
              </a:rPr>
              <a:t>SUN J, XU C, TANG L, et al. Think-on-Graph: Deep and Responsible Reasoning of Large Language Model on Knowledge Graph[C]  2024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577900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2648" y="5806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[27]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" y="580644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10"/>
              </a:rPr>
              <a:t>EDGE D, TRINH H, CHENG N, et al. From Local to Global: A Graph RAG Approach to Query-Focused Summarization[EB/OL]  2025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12648" y="625906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7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1">
                <a:solidFill>
                  <a:srgbClr val="176B62"/>
                </a:solidFill>
                <a:latin typeface="Noto Sans CJK SC"/>
                <a:ea typeface="Noto Sans CJK SC"/>
              </a:rPr>
              <a:t>专业写作基础  /  文献综述汇报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46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050" b="0">
                <a:solidFill>
                  <a:srgbClr val="65777A"/>
                </a:solidFill>
                <a:latin typeface="Noto Sans CJK SC"/>
                <a:ea typeface="Noto Sans CJK SC"/>
              </a:rPr>
              <a:t>参考附录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2900" b="1">
                <a:solidFill>
                  <a:srgbClr val="14353C"/>
                </a:solidFill>
                <a:latin typeface="Noto Sans CJK SC"/>
                <a:ea typeface="Noto Sans CJK SC"/>
              </a:rPr>
              <a:t>参考文献（4/4）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10945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0"/>
              </a:spcAft>
            </a:pPr>
            <a:r>
              <a:rPr sz="1400" b="0">
                <a:solidFill>
                  <a:srgbClr val="65777A"/>
                </a:solidFill>
                <a:latin typeface="Noto Sans CJK SC"/>
                <a:ea typeface="Noto Sans CJK SC"/>
              </a:rPr>
              <a:t>编号与初稿一致；原始链接可点击。完整卷期、页码及阅读深度见文献清单。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46520"/>
            <a:ext cx="11045952" cy="0"/>
          </a:xfrm>
          <a:prstGeom prst="line">
            <a:avLst/>
          </a:prstGeom>
          <a:ln w="8890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37960"/>
            <a:ext cx="9829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"/>
              </a:spcAft>
            </a:pPr>
            <a:r>
              <a:rPr sz="900" b="0">
                <a:solidFill>
                  <a:srgbClr val="65777A"/>
                </a:solidFill>
                <a:latin typeface="Noto Sans CJK SC"/>
                <a:ea typeface="Noto Sans CJK SC"/>
              </a:rPr>
              <a:t>依据：初稿 参考文献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5777A"/>
                </a:solidFill>
                <a:latin typeface="Noto Sans CJK SC"/>
                <a:ea typeface="Noto Sans CJK SC"/>
              </a:rPr>
              <a:t>27 /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9659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[28]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196596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2"/>
              </a:rPr>
              <a:t>JIMÉNEZ GUTIÉRREZ B, SHU Y, GU Y, et al. HippoRAG: Neurobiologically Inspired Long-Term Memory for Large Language Models[C]  2024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241858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8" y="24460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[29]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244602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3"/>
              </a:rPr>
              <a:t>MERX R, MAHMUDI A, LANGFORD K, et al. Low-Resource Machine Translation through Retrieval-Augmented LLM Prompting: A Study on the Mambai Language[C]  2024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289864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29260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[30]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292608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4"/>
              </a:rPr>
              <a:t>ELTANBOULY S, RASHWANI S. Grounding Arabic LLMs in the Doha Historical Dictionary: Retrieval-Augmented Understanding of Quran and Hadith[EB/OL]  2026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" y="337870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2648" y="34061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[31]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340614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5"/>
              </a:rPr>
              <a:t>GAO T, YEN H, YU J, et al. Enabling Large Language Models to Generate Text with Citations[C]  2023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" y="385876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2648" y="3886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[32]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388620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6"/>
              </a:rPr>
              <a:t>ES S, JAMES J, ESPINOSA ANKE L, et al. RAGAs: Automated Evaluation of Retrieval Augmented Generation[C]  2024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2648" y="433882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2648" y="43662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[33]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" y="436626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7"/>
              </a:rPr>
              <a:t>LIU N F, LIN K, HEWITT J, et al. Lost in the Middle: How Language Models Use Long Contexts[J]  2024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481888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8" y="48463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[34]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" y="484632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8"/>
              </a:rPr>
              <a:t>TRIVEDI H, BALASUBRAMANIAN N, KHOT T, et al. ♫ MuSiQue: Multihop Questions via Single-hop Question Composition[J]  2022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2648" y="529894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12648" y="53263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</a:pPr>
            <a:r>
              <a:rPr sz="1300" b="1">
                <a:solidFill>
                  <a:srgbClr val="176B62"/>
                </a:solidFill>
                <a:latin typeface="Noto Sans CJK SC"/>
                <a:ea typeface="Noto Sans CJK SC"/>
              </a:rPr>
              <a:t>[35]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" y="532638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6"/>
              </a:spcAft>
            </a:pPr>
            <a:r>
              <a:rPr sz="1230" b="0">
                <a:solidFill>
                  <a:srgbClr val="344C52"/>
                </a:solidFill>
                <a:latin typeface="Noto Sans CJK SC"/>
                <a:ea typeface="Noto Sans CJK SC"/>
                <a:hlinkClick r:id="rId9"/>
              </a:rPr>
              <a:t>ARTSTEIN R, POESIO M. Survey Article: Inter-Coder Agreement for Computational Linguistics[J]  2008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5779008"/>
            <a:ext cx="10981944" cy="0"/>
          </a:xfrm>
          <a:prstGeom prst="line">
            <a:avLst/>
          </a:prstGeom>
          <a:ln w="6985">
            <a:solidFill>
              <a:srgbClr val="D5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辞书知识与检索增强生成的融合：语义表示、技术路径与发展趋势</dc:title>
  <dc:subject>专业写作基础课程文献综述</dc:subject>
  <dc:creator>课程文献综述</dc:creator>
  <cp:keywords>辞书,词汇语义,RAG,文献综述</cp:keywords>
  <dc:description>Based on the repository draft; editable shapes and slide notes.</dc:description>
  <cp:lastModifiedBy>Steve Canny</cp:lastModifiedBy>
  <cp:revision>1</cp:revision>
  <dcterms:created xsi:type="dcterms:W3CDTF">2026-09-23T00:00:00Z</dcterms:created>
  <dcterms:modified xsi:type="dcterms:W3CDTF">2026-09-23T00:00:00Z</dcterms:modified>
  <cp:category/>
</cp:coreProperties>
</file>